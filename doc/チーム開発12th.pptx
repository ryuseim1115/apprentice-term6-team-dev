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260" r:id="rId3"/>
    <p:sldId id="261" r:id="rId4"/>
    <p:sldId id="262" r:id="rId5"/>
    <p:sldId id="263" r:id="rId6"/>
    <p:sldId id="264" r:id="rId7"/>
    <p:sldId id="268" r:id="rId8"/>
    <p:sldId id="267" r:id="rId9"/>
    <p:sldId id="269" r:id="rId10"/>
    <p:sldId id="270" r:id="rId11"/>
    <p:sldId id="271" r:id="rId12"/>
    <p:sldId id="265" r:id="rId13"/>
    <p:sldId id="272" r:id="rId14"/>
    <p:sldId id="266" r:id="rId15"/>
    <p:sldId id="27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0544" autoAdjust="0"/>
  </p:normalViewPr>
  <p:slideViewPr>
    <p:cSldViewPr snapToGrid="0">
      <p:cViewPr varScale="1">
        <p:scale>
          <a:sx n="102" d="100"/>
          <a:sy n="102" d="100"/>
        </p:scale>
        <p:origin x="8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4A2DA1-27B4-4683-BF67-59956D1BF856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D86DA3-4F89-40D8-BD55-00CDD58BB4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3263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2/7/2026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2F5B00-B85F-0525-3621-D128D50D86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5270251" cy="1646302"/>
          </a:xfrm>
        </p:spPr>
        <p:txBody>
          <a:bodyPr/>
          <a:lstStyle/>
          <a:p>
            <a:pPr algn="l"/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○○アプリについて</a:t>
            </a:r>
            <a:b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</a:b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8C51E00-4832-783E-7FDC-475B6C28ED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5270251" cy="2556155"/>
          </a:xfrm>
        </p:spPr>
        <p:txBody>
          <a:bodyPr>
            <a:noAutofit/>
          </a:bodyPr>
          <a:lstStyle/>
          <a:p>
            <a:pPr algn="l"/>
            <a:r>
              <a:rPr lang="ja-JP" altLang="en-US" sz="24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プロジェクトメンバー</a:t>
            </a:r>
            <a:endParaRPr lang="en-US" altLang="ja-JP" sz="24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2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石本 純貴</a:t>
            </a:r>
            <a:endParaRPr lang="en-US" altLang="ja-JP" sz="2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2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怡田 嶺哉</a:t>
            </a:r>
            <a:endParaRPr lang="en-US" altLang="ja-JP" sz="2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2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棚 英雄</a:t>
            </a:r>
            <a:endParaRPr lang="en-US" altLang="ja-JP" sz="2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2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前渕 竜盛</a:t>
            </a:r>
          </a:p>
          <a:p>
            <a:pPr algn="l"/>
            <a:endParaRPr kumimoji="1" lang="ja-JP" altLang="en-US" sz="2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90905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659E7-BEFD-D8DA-29A2-D0E296E3F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F54735-D6A9-9CB1-9105-F2B26041D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1106642" cy="582706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目次</a:t>
            </a:r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92D1E47F-F105-19D7-F5E8-A148CD49D2C8}"/>
              </a:ext>
            </a:extLst>
          </p:cNvPr>
          <p:cNvSpPr txBox="1">
            <a:spLocks/>
          </p:cNvSpPr>
          <p:nvPr/>
        </p:nvSpPr>
        <p:spPr>
          <a:xfrm>
            <a:off x="1340722" y="3137646"/>
            <a:ext cx="8596668" cy="130884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kumimoji="1"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kumimoji="1">
                <a:solidFill>
                  <a:schemeClr val="tx2"/>
                </a:solidFill>
              </a:defRPr>
            </a:lvl2pPr>
            <a:lvl3pPr eaLnBrk="1" hangingPunct="1">
              <a:defRPr kumimoji="1">
                <a:solidFill>
                  <a:schemeClr val="tx2"/>
                </a:solidFill>
              </a:defRPr>
            </a:lvl3pPr>
            <a:lvl4pPr eaLnBrk="1" hangingPunct="1">
              <a:defRPr kumimoji="1">
                <a:solidFill>
                  <a:schemeClr val="tx2"/>
                </a:solidFill>
              </a:defRPr>
            </a:lvl4pPr>
            <a:lvl5pPr eaLnBrk="1" hangingPunct="1">
              <a:defRPr kumimoji="1">
                <a:solidFill>
                  <a:schemeClr val="tx2"/>
                </a:solidFill>
              </a:defRPr>
            </a:lvl5pPr>
            <a:lvl6pPr eaLnBrk="1" hangingPunct="1">
              <a:defRPr kumimoji="1">
                <a:solidFill>
                  <a:schemeClr val="tx2"/>
                </a:solidFill>
              </a:defRPr>
            </a:lvl6pPr>
            <a:lvl7pPr eaLnBrk="1" hangingPunct="1">
              <a:defRPr kumimoji="1">
                <a:solidFill>
                  <a:schemeClr val="tx2"/>
                </a:solidFill>
              </a:defRPr>
            </a:lvl7pPr>
            <a:lvl8pPr eaLnBrk="1" hangingPunct="1">
              <a:defRPr kumimoji="1">
                <a:solidFill>
                  <a:schemeClr val="tx2"/>
                </a:solidFill>
              </a:defRPr>
            </a:lvl8pPr>
            <a:lvl9pPr eaLnBrk="1" hangingPunct="1">
              <a:defRPr kumimoji="1">
                <a:solidFill>
                  <a:schemeClr val="tx2"/>
                </a:solidFill>
              </a:defRPr>
            </a:lvl9pPr>
          </a:lstStyle>
          <a:p>
            <a:endParaRPr lang="en-US" altLang="ja-JP" sz="16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6728158-7459-1FC7-9B6E-E440B6F27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1105784"/>
            <a:ext cx="4605113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1.</a:t>
            </a:r>
            <a:r>
              <a:rPr kumimoji="0" lang="ja-JP" altLang="ja-JP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背景・課題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2.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○○</a:t>
            </a:r>
            <a:r>
              <a:rPr kumimoji="0" lang="ja-JP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アプリ開発目的</a:t>
            </a:r>
            <a:endParaRPr kumimoji="0" lang="ja-JP" altLang="ja-JP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3.</a:t>
            </a:r>
            <a:r>
              <a:rPr kumimoji="0" lang="ja-JP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○○</a:t>
            </a:r>
            <a:r>
              <a:rPr lang="ja-JP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アプリ概要</a:t>
            </a:r>
            <a:endParaRPr kumimoji="0" lang="en-US" altLang="ja-JP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ja-JP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4.</a:t>
            </a:r>
            <a:r>
              <a:rPr kumimoji="0" lang="ja-JP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○○アプリ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使用手順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ja-JP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5.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役割分担</a:t>
            </a:r>
            <a:endParaRPr kumimoji="0" lang="en-US" altLang="ja-JP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ja-JP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6.</a:t>
            </a:r>
            <a:r>
              <a:rPr kumimoji="0" lang="ja-JP" altLang="ja-JP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改善点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r>
            <a:r>
              <a:rPr kumimoji="0" lang="en-US" altLang="ja-JP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.</a:t>
            </a:r>
            <a:r>
              <a:rPr kumimoji="0" lang="ja-JP" altLang="ja-JP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まとめ</a:t>
            </a:r>
            <a:endParaRPr kumimoji="0" lang="en-US" altLang="ja-JP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ja-JP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8.</a:t>
            </a:r>
            <a:r>
              <a:rPr kumimoji="0" lang="ja-JP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付録</a:t>
            </a:r>
          </a:p>
        </p:txBody>
      </p:sp>
    </p:spTree>
    <p:extLst>
      <p:ext uri="{BB962C8B-B14F-4D97-AF65-F5344CB8AC3E}">
        <p14:creationId xmlns:p14="http://schemas.microsoft.com/office/powerpoint/2010/main" val="2197491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69760-BF0A-B859-45CE-7EC83FDC6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D914A8-4BB3-1320-75D1-143BF7DE5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2442385" cy="582706"/>
          </a:xfrm>
        </p:spPr>
        <p:txBody>
          <a:bodyPr>
            <a:normAutofit fontScale="90000"/>
          </a:bodyPr>
          <a:lstStyle/>
          <a:p>
            <a:r>
              <a:rPr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1.</a:t>
            </a:r>
            <a:r>
              <a:rPr kumimoji="0" lang="ja-JP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背景・課題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543FD0A-547E-7333-B8A6-B06419CBB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5" y="1192306"/>
            <a:ext cx="846665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背景</a:t>
            </a:r>
            <a:endParaRPr kumimoji="0" lang="ja-JP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B12C57-DECC-1503-0143-F7E22022B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5" y="1730171"/>
            <a:ext cx="9443818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/>
              <a:t>近年、リモートワークの普及により、</a:t>
            </a:r>
            <a:r>
              <a:rPr lang="ja-JP" altLang="en-US" sz="2400" b="1" u="sng" dirty="0"/>
              <a:t>オンライン</a:t>
            </a:r>
            <a:r>
              <a:rPr lang="ja-JP" altLang="en-US" sz="2400" dirty="0"/>
              <a:t>で交流する機会が増加している。</a:t>
            </a:r>
            <a:endParaRPr lang="en-US" altLang="ja-JP" sz="24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/>
              <a:t>一方でオフラインの対面交流とは異なり、関係性の初期段階において</a:t>
            </a:r>
            <a:r>
              <a:rPr lang="ja-JP" altLang="en-US" sz="2400" b="1" u="sng" dirty="0"/>
              <a:t>関係構築が分からない</a:t>
            </a:r>
            <a:r>
              <a:rPr lang="ja-JP" altLang="en-US" sz="2400" dirty="0"/>
              <a:t>と感じる人が多くなっている。</a:t>
            </a:r>
            <a:endParaRPr kumimoji="0" lang="ja-JP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5645A40-9ADA-BFBD-B1FD-DDC495CEF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3" y="3513276"/>
            <a:ext cx="846665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課題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D1D4DD4-5422-FC84-95C7-9307D4AA0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088" y="4051141"/>
            <a:ext cx="938106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/>
              <a:t>初対面の人との会話において</a:t>
            </a:r>
            <a:r>
              <a:rPr lang="ja-JP" altLang="en-US" sz="2400" b="1" u="sng" dirty="0"/>
              <a:t>共通の話題</a:t>
            </a:r>
            <a:r>
              <a:rPr lang="ja-JP" altLang="en-US" sz="2400" dirty="0"/>
              <a:t>を見つけることが難しく、十分な</a:t>
            </a:r>
            <a:r>
              <a:rPr lang="ja-JP" altLang="en-US" sz="2400" b="1" u="sng" dirty="0"/>
              <a:t>関係構築に至らない</a:t>
            </a:r>
            <a:r>
              <a:rPr lang="ja-JP" altLang="en-US" sz="2400" dirty="0"/>
              <a:t>ケースが多い。</a:t>
            </a:r>
            <a:endParaRPr kumimoji="0" lang="ja-JP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94155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ECA55-3286-A566-62FC-362E74350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5EA5C3-F4D5-5158-BF48-2666C7839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760196" cy="582706"/>
          </a:xfrm>
        </p:spPr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kumimoji="0"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2.</a:t>
            </a:r>
            <a:r>
              <a:rPr kumimoji="0" lang="ja-JP" altLang="en-US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アプリ開発目的</a:t>
            </a:r>
            <a:endParaRPr kumimoji="0" lang="ja-JP" alt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33A7F3A-DD56-6710-637C-4E6D1FA61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5" y="1192306"/>
            <a:ext cx="846665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目的</a:t>
            </a:r>
            <a:endParaRPr kumimoji="0" lang="ja-JP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7CAAE83-E601-B9A2-EDFB-1F0CD79D5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3" y="1775012"/>
            <a:ext cx="94438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/>
              <a:t>本アプリは、初対面の人との関係構築を支援することを目的とする</a:t>
            </a:r>
            <a:endParaRPr kumimoji="0" lang="ja-JP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8" name="グラフィックス 7" descr="握手">
            <a:extLst>
              <a:ext uri="{FF2B5EF4-FFF2-40B4-BE49-F238E27FC236}">
                <a16:creationId xmlns:a16="http://schemas.microsoft.com/office/drawing/2014/main" id="{7136922A-B89C-B50B-EFF2-A2C13DD435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42042" y="3980468"/>
            <a:ext cx="914400" cy="914400"/>
          </a:xfrm>
          <a:prstGeom prst="rect">
            <a:avLst/>
          </a:prstGeom>
        </p:spPr>
      </p:pic>
      <p:pic>
        <p:nvPicPr>
          <p:cNvPr id="10" name="グラフィックス 9" descr="ユーザー">
            <a:extLst>
              <a:ext uri="{FF2B5EF4-FFF2-40B4-BE49-F238E27FC236}">
                <a16:creationId xmlns:a16="http://schemas.microsoft.com/office/drawing/2014/main" id="{503E5467-C045-AE0D-D58F-C216F87CB3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4586" y="3801359"/>
            <a:ext cx="914400" cy="914400"/>
          </a:xfrm>
          <a:prstGeom prst="rect">
            <a:avLst/>
          </a:prstGeom>
        </p:spPr>
      </p:pic>
      <p:pic>
        <p:nvPicPr>
          <p:cNvPr id="11" name="グラフィックス 10" descr="ユーザー">
            <a:extLst>
              <a:ext uri="{FF2B5EF4-FFF2-40B4-BE49-F238E27FC236}">
                <a16:creationId xmlns:a16="http://schemas.microsoft.com/office/drawing/2014/main" id="{FCB9E90D-9FD8-7E12-EF62-4D141A59BC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35560" y="380135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721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46361-94E1-EC7C-526F-FC2827418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8242AF-99E1-BEE5-2102-0F83A9CC2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760196" cy="582706"/>
          </a:xfrm>
        </p:spPr>
        <p:txBody>
          <a:bodyPr>
            <a:normAutofit fontScale="90000"/>
          </a:bodyPr>
          <a:lstStyle/>
          <a:p>
            <a:pPr defTabSz="914400" eaLnBrk="0" fontAlgn="base" hangingPunct="0">
              <a:spcAft>
                <a:spcPct val="0"/>
              </a:spcAft>
            </a:pPr>
            <a:r>
              <a:rPr kumimoji="0"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3.</a:t>
            </a:r>
            <a:r>
              <a:rPr kumimoji="0" lang="ja-JP" altLang="en-US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○○</a:t>
            </a:r>
            <a:r>
              <a:rPr lang="ja-JP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アプリの概要</a:t>
            </a:r>
            <a:endParaRPr kumimoji="0" lang="en-US" alt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294103-359D-AEA3-E107-30287E52B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3" y="1192306"/>
            <a:ext cx="317749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/>
              <a:t>利用者（ユーザー）</a:t>
            </a:r>
            <a:endParaRPr lang="ja-JP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02EA920-2AB1-A728-007E-19176B8B9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2" y="1757082"/>
            <a:ext cx="696059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/>
              <a:t>初対面同士が集まるオフラインイベントの</a:t>
            </a:r>
            <a:r>
              <a:rPr lang="ja-JP" altLang="en-US" sz="2400" b="1" u="sng" dirty="0"/>
              <a:t>参加者</a:t>
            </a:r>
            <a:endParaRPr kumimoji="0" lang="ja-JP" altLang="en-US" sz="24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0CA6B33-9558-311D-25BD-AD54D3513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3" y="2236677"/>
            <a:ext cx="402913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ja-JP" sz="2400" dirty="0"/>
              <a:t>1</a:t>
            </a:r>
            <a:r>
              <a:rPr lang="ja-JP" altLang="en-US" sz="2400" dirty="0"/>
              <a:t>グループあたりの利用人数</a:t>
            </a:r>
            <a:endParaRPr lang="ja-JP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2F67DEA-505D-8DAD-FB2E-C3E565EF0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2" y="2783523"/>
            <a:ext cx="147419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～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人</a:t>
            </a:r>
            <a:endParaRPr kumimoji="0" lang="ja-JP" altLang="en-US" sz="24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E6FC1D6-9DBA-77B4-074D-6D26003814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2" y="3348299"/>
            <a:ext cx="317749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/>
              <a:t>利用シーン</a:t>
            </a:r>
            <a:endParaRPr lang="ja-JP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3DDA3D8B-43E6-3B7B-BA5C-9467DBFDA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2" y="3895145"/>
            <a:ext cx="809911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/>
              <a:t>オフラインイベント開始直後の</a:t>
            </a:r>
            <a:r>
              <a:rPr lang="ja-JP" altLang="en-US" sz="2400" b="1" dirty="0"/>
              <a:t>アイスブレイク</a:t>
            </a:r>
            <a:endParaRPr kumimoji="0" lang="ja-JP" altLang="en-US" sz="24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23698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B2EE7-37AF-44D4-4155-30F566E65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43A37F-9131-8896-8C0C-785DBB038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4056032" cy="582706"/>
          </a:xfrm>
        </p:spPr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kumimoji="0"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4.</a:t>
            </a:r>
            <a:r>
              <a:rPr kumimoji="0" lang="ja-JP" altLang="en-US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○○アプリ使用手順</a:t>
            </a:r>
            <a:endParaRPr kumimoji="0" lang="en-US" alt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55CB6D5-C9D2-A785-45B3-3B99F9D65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5" y="1192307"/>
            <a:ext cx="5418665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フェーズ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1.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イベント開始前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グループ割り振り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0" lang="ja-JP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E31E866-7A2C-84E0-9BD9-E3505AED3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3" y="1775012"/>
            <a:ext cx="94438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主催者はイベント開始前にアプリを起動し、グループを割り振る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621B6D-0CDD-2081-E066-1C3F8CA48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2330823"/>
            <a:ext cx="479113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フェーズ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2.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イベント開始後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アプリ起動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0" lang="ja-JP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7F91F1B-CA37-2104-28AF-1969DEC10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3" y="2886634"/>
            <a:ext cx="57145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参加者が各々の端末にてアプリを起動する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8" name="グラフィックス 7" descr="ユーザー">
            <a:extLst>
              <a:ext uri="{FF2B5EF4-FFF2-40B4-BE49-F238E27FC236}">
                <a16:creationId xmlns:a16="http://schemas.microsoft.com/office/drawing/2014/main" id="{ABDDA088-EBC5-155D-F247-F181ED7561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4113" y="3348299"/>
            <a:ext cx="519956" cy="519956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B7FCDFF2-BD49-5613-5C93-00645D55E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0194" y="3868255"/>
            <a:ext cx="68779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主催者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9BCAC079-EA1A-EAFE-B9F4-8D562A39815B}"/>
              </a:ext>
            </a:extLst>
          </p:cNvPr>
          <p:cNvCxnSpPr>
            <a:cxnSpLocks/>
            <a:stCxn id="9" idx="2"/>
            <a:endCxn id="18" idx="0"/>
          </p:cNvCxnSpPr>
          <p:nvPr/>
        </p:nvCxnSpPr>
        <p:spPr>
          <a:xfrm flipH="1">
            <a:off x="1847973" y="4145254"/>
            <a:ext cx="2446118" cy="6796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6BEBCE93-5CAB-501C-9A67-7763FEB6759F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4294091" y="4145254"/>
            <a:ext cx="6966" cy="6796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7C75B8AD-81D1-3F94-C1CD-E9C614B73D8E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4294091" y="4145254"/>
            <a:ext cx="2717552" cy="6796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2">
            <a:extLst>
              <a:ext uri="{FF2B5EF4-FFF2-40B4-BE49-F238E27FC236}">
                <a16:creationId xmlns:a16="http://schemas.microsoft.com/office/drawing/2014/main" id="{B975BC22-C877-D5E4-A036-F5F634BC8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5804" y="6247020"/>
            <a:ext cx="92012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グループ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A</a:t>
            </a:r>
          </a:p>
        </p:txBody>
      </p:sp>
      <p:sp>
        <p:nvSpPr>
          <p:cNvPr id="46" name="Rectangle 2">
            <a:extLst>
              <a:ext uri="{FF2B5EF4-FFF2-40B4-BE49-F238E27FC236}">
                <a16:creationId xmlns:a16="http://schemas.microsoft.com/office/drawing/2014/main" id="{2402272F-C800-81F6-19C6-4B48DDF25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2969" y="6247020"/>
            <a:ext cx="92012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グループ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B</a:t>
            </a:r>
          </a:p>
        </p:txBody>
      </p:sp>
      <p:sp>
        <p:nvSpPr>
          <p:cNvPr id="47" name="Rectangle 2">
            <a:extLst>
              <a:ext uri="{FF2B5EF4-FFF2-40B4-BE49-F238E27FC236}">
                <a16:creationId xmlns:a16="http://schemas.microsoft.com/office/drawing/2014/main" id="{8F5B3A50-5DA6-76D3-A55B-591C758D0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2575" y="6247020"/>
            <a:ext cx="92012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グループ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C</a:t>
            </a:r>
          </a:p>
        </p:txBody>
      </p:sp>
      <p:pic>
        <p:nvPicPr>
          <p:cNvPr id="10" name="グラフィックス 9" descr="ユーザー">
            <a:extLst>
              <a:ext uri="{FF2B5EF4-FFF2-40B4-BE49-F238E27FC236}">
                <a16:creationId xmlns:a16="http://schemas.microsoft.com/office/drawing/2014/main" id="{B6C79260-D929-EFAE-2D2C-F89ADB232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3360" y="5384574"/>
            <a:ext cx="519956" cy="519956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CD26D678-5C44-B190-9F8C-DE17DD371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451" y="5868675"/>
            <a:ext cx="76598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参加者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pic>
        <p:nvPicPr>
          <p:cNvPr id="12" name="グラフィックス 11" descr="ユーザー">
            <a:extLst>
              <a:ext uri="{FF2B5EF4-FFF2-40B4-BE49-F238E27FC236}">
                <a16:creationId xmlns:a16="http://schemas.microsoft.com/office/drawing/2014/main" id="{2247BF81-4966-F098-211B-ED2C09382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7235" y="5384574"/>
            <a:ext cx="519956" cy="519956"/>
          </a:xfrm>
          <a:prstGeom prst="rect">
            <a:avLst/>
          </a:prstGeom>
        </p:spPr>
      </p:pic>
      <p:pic>
        <p:nvPicPr>
          <p:cNvPr id="14" name="グラフィックス 13" descr="ユーザー">
            <a:extLst>
              <a:ext uri="{FF2B5EF4-FFF2-40B4-BE49-F238E27FC236}">
                <a16:creationId xmlns:a16="http://schemas.microsoft.com/office/drawing/2014/main" id="{0CAF1492-92F9-7132-5043-DD302A85F0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15029" y="5384574"/>
            <a:ext cx="519956" cy="519956"/>
          </a:xfrm>
          <a:prstGeom prst="rect">
            <a:avLst/>
          </a:prstGeom>
        </p:spPr>
      </p:pic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0D0F3B6-9EE7-8BA7-1149-F7A452373137}"/>
              </a:ext>
            </a:extLst>
          </p:cNvPr>
          <p:cNvSpPr/>
          <p:nvPr/>
        </p:nvSpPr>
        <p:spPr>
          <a:xfrm>
            <a:off x="755522" y="4824942"/>
            <a:ext cx="2184902" cy="1398501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9" name="グラフィックス 48" descr="インターネット">
            <a:extLst>
              <a:ext uri="{FF2B5EF4-FFF2-40B4-BE49-F238E27FC236}">
                <a16:creationId xmlns:a16="http://schemas.microsoft.com/office/drawing/2014/main" id="{5B19B709-458D-91AF-C90C-DF5990A173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38941" y="4946187"/>
            <a:ext cx="516155" cy="516155"/>
          </a:xfrm>
          <a:prstGeom prst="rect">
            <a:avLst/>
          </a:prstGeom>
        </p:spPr>
      </p:pic>
      <p:pic>
        <p:nvPicPr>
          <p:cNvPr id="73" name="グラフィックス 72" descr="インターネット">
            <a:extLst>
              <a:ext uri="{FF2B5EF4-FFF2-40B4-BE49-F238E27FC236}">
                <a16:creationId xmlns:a16="http://schemas.microsoft.com/office/drawing/2014/main" id="{68672324-6C90-B0AA-1FCF-2C804D91BF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1433" y="4946187"/>
            <a:ext cx="516155" cy="516155"/>
          </a:xfrm>
          <a:prstGeom prst="rect">
            <a:avLst/>
          </a:prstGeom>
        </p:spPr>
      </p:pic>
      <p:pic>
        <p:nvPicPr>
          <p:cNvPr id="74" name="グラフィックス 73" descr="インターネット">
            <a:extLst>
              <a:ext uri="{FF2B5EF4-FFF2-40B4-BE49-F238E27FC236}">
                <a16:creationId xmlns:a16="http://schemas.microsoft.com/office/drawing/2014/main" id="{0B84525A-620F-150C-ADCA-B3E0907AA5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12044" y="4946187"/>
            <a:ext cx="516155" cy="516155"/>
          </a:xfrm>
          <a:prstGeom prst="rect">
            <a:avLst/>
          </a:prstGeom>
        </p:spPr>
      </p:pic>
      <p:sp>
        <p:nvSpPr>
          <p:cNvPr id="112" name="Rectangle 2">
            <a:extLst>
              <a:ext uri="{FF2B5EF4-FFF2-40B4-BE49-F238E27FC236}">
                <a16:creationId xmlns:a16="http://schemas.microsoft.com/office/drawing/2014/main" id="{4F922B24-9DE3-CAC1-90F3-1D0F25BF9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1428" y="5868675"/>
            <a:ext cx="76598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参加者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</a:p>
        </p:txBody>
      </p:sp>
      <p:sp>
        <p:nvSpPr>
          <p:cNvPr id="113" name="Rectangle 2">
            <a:extLst>
              <a:ext uri="{FF2B5EF4-FFF2-40B4-BE49-F238E27FC236}">
                <a16:creationId xmlns:a16="http://schemas.microsoft.com/office/drawing/2014/main" id="{0FEB95E6-F469-750A-C57E-2F28526A7B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5145" y="5868675"/>
            <a:ext cx="76598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参加者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</a:p>
        </p:txBody>
      </p:sp>
      <p:pic>
        <p:nvPicPr>
          <p:cNvPr id="114" name="グラフィックス 113" descr="ユーザー">
            <a:extLst>
              <a:ext uri="{FF2B5EF4-FFF2-40B4-BE49-F238E27FC236}">
                <a16:creationId xmlns:a16="http://schemas.microsoft.com/office/drawing/2014/main" id="{7E683743-DC3C-A510-0BD5-43247B2834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6426" y="5384574"/>
            <a:ext cx="519956" cy="519956"/>
          </a:xfrm>
          <a:prstGeom prst="rect">
            <a:avLst/>
          </a:prstGeom>
        </p:spPr>
      </p:pic>
      <p:sp>
        <p:nvSpPr>
          <p:cNvPr id="115" name="Rectangle 2">
            <a:extLst>
              <a:ext uri="{FF2B5EF4-FFF2-40B4-BE49-F238E27FC236}">
                <a16:creationId xmlns:a16="http://schemas.microsoft.com/office/drawing/2014/main" id="{40767F52-2981-70CB-DAEC-329942AED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517" y="5868675"/>
            <a:ext cx="76598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参加者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r>
          </a:p>
        </p:txBody>
      </p:sp>
      <p:pic>
        <p:nvPicPr>
          <p:cNvPr id="116" name="グラフィックス 115" descr="ユーザー">
            <a:extLst>
              <a:ext uri="{FF2B5EF4-FFF2-40B4-BE49-F238E27FC236}">
                <a16:creationId xmlns:a16="http://schemas.microsoft.com/office/drawing/2014/main" id="{6D036BCC-F253-CC1B-9489-2745512EA5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30301" y="5384574"/>
            <a:ext cx="519956" cy="519956"/>
          </a:xfrm>
          <a:prstGeom prst="rect">
            <a:avLst/>
          </a:prstGeom>
        </p:spPr>
      </p:pic>
      <p:pic>
        <p:nvPicPr>
          <p:cNvPr id="117" name="グラフィックス 116" descr="ユーザー">
            <a:extLst>
              <a:ext uri="{FF2B5EF4-FFF2-40B4-BE49-F238E27FC236}">
                <a16:creationId xmlns:a16="http://schemas.microsoft.com/office/drawing/2014/main" id="{37FAE726-BC30-28AA-FA5B-AF86CF700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18095" y="5384574"/>
            <a:ext cx="519956" cy="519956"/>
          </a:xfrm>
          <a:prstGeom prst="rect">
            <a:avLst/>
          </a:prstGeom>
        </p:spPr>
      </p:pic>
      <p:sp>
        <p:nvSpPr>
          <p:cNvPr id="118" name="正方形/長方形 117">
            <a:extLst>
              <a:ext uri="{FF2B5EF4-FFF2-40B4-BE49-F238E27FC236}">
                <a16:creationId xmlns:a16="http://schemas.microsoft.com/office/drawing/2014/main" id="{D12E6AC4-8550-6C64-FA24-C3A6C1D287ED}"/>
              </a:ext>
            </a:extLst>
          </p:cNvPr>
          <p:cNvSpPr/>
          <p:nvPr/>
        </p:nvSpPr>
        <p:spPr>
          <a:xfrm>
            <a:off x="3358588" y="4824942"/>
            <a:ext cx="2184902" cy="1398501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9" name="グラフィックス 118" descr="インターネット">
            <a:extLst>
              <a:ext uri="{FF2B5EF4-FFF2-40B4-BE49-F238E27FC236}">
                <a16:creationId xmlns:a16="http://schemas.microsoft.com/office/drawing/2014/main" id="{57BE3710-1B1D-89F7-0095-9B275A551C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42007" y="4946187"/>
            <a:ext cx="516155" cy="516155"/>
          </a:xfrm>
          <a:prstGeom prst="rect">
            <a:avLst/>
          </a:prstGeom>
        </p:spPr>
      </p:pic>
      <p:pic>
        <p:nvPicPr>
          <p:cNvPr id="120" name="グラフィックス 119" descr="インターネット">
            <a:extLst>
              <a:ext uri="{FF2B5EF4-FFF2-40B4-BE49-F238E27FC236}">
                <a16:creationId xmlns:a16="http://schemas.microsoft.com/office/drawing/2014/main" id="{B40135E3-EE35-1043-CB1E-B11F1AA376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84499" y="4946187"/>
            <a:ext cx="516155" cy="516155"/>
          </a:xfrm>
          <a:prstGeom prst="rect">
            <a:avLst/>
          </a:prstGeom>
        </p:spPr>
      </p:pic>
      <p:pic>
        <p:nvPicPr>
          <p:cNvPr id="121" name="グラフィックス 120" descr="インターネット">
            <a:extLst>
              <a:ext uri="{FF2B5EF4-FFF2-40B4-BE49-F238E27FC236}">
                <a16:creationId xmlns:a16="http://schemas.microsoft.com/office/drawing/2014/main" id="{B162746B-7C0B-AD54-9D86-DA0B1CC3D0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15110" y="4946187"/>
            <a:ext cx="516155" cy="516155"/>
          </a:xfrm>
          <a:prstGeom prst="rect">
            <a:avLst/>
          </a:prstGeom>
        </p:spPr>
      </p:pic>
      <p:sp>
        <p:nvSpPr>
          <p:cNvPr id="122" name="Rectangle 2">
            <a:extLst>
              <a:ext uri="{FF2B5EF4-FFF2-40B4-BE49-F238E27FC236}">
                <a16:creationId xmlns:a16="http://schemas.microsoft.com/office/drawing/2014/main" id="{C9C93309-2F09-739B-06A0-16082ED52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94" y="5868675"/>
            <a:ext cx="76598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参加者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6</a:t>
            </a:r>
          </a:p>
        </p:txBody>
      </p:sp>
      <p:sp>
        <p:nvSpPr>
          <p:cNvPr id="123" name="Rectangle 2">
            <a:extLst>
              <a:ext uri="{FF2B5EF4-FFF2-40B4-BE49-F238E27FC236}">
                <a16:creationId xmlns:a16="http://schemas.microsoft.com/office/drawing/2014/main" id="{D189506C-4508-9DEE-1C68-244454024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8211" y="5868675"/>
            <a:ext cx="76598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参加者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</a:p>
        </p:txBody>
      </p:sp>
      <p:pic>
        <p:nvPicPr>
          <p:cNvPr id="124" name="グラフィックス 123" descr="ユーザー">
            <a:extLst>
              <a:ext uri="{FF2B5EF4-FFF2-40B4-BE49-F238E27FC236}">
                <a16:creationId xmlns:a16="http://schemas.microsoft.com/office/drawing/2014/main" id="{E69FDA8A-A531-5FF9-C22D-4E70A9FDB0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9492" y="5408151"/>
            <a:ext cx="519956" cy="519956"/>
          </a:xfrm>
          <a:prstGeom prst="rect">
            <a:avLst/>
          </a:prstGeom>
        </p:spPr>
      </p:pic>
      <p:sp>
        <p:nvSpPr>
          <p:cNvPr id="125" name="Rectangle 2">
            <a:extLst>
              <a:ext uri="{FF2B5EF4-FFF2-40B4-BE49-F238E27FC236}">
                <a16:creationId xmlns:a16="http://schemas.microsoft.com/office/drawing/2014/main" id="{97479254-0A6B-6EB1-E3C2-73BB7B03D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9583" y="5892252"/>
            <a:ext cx="76598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参加者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r>
          </a:p>
        </p:txBody>
      </p:sp>
      <p:pic>
        <p:nvPicPr>
          <p:cNvPr id="126" name="グラフィックス 125" descr="ユーザー">
            <a:extLst>
              <a:ext uri="{FF2B5EF4-FFF2-40B4-BE49-F238E27FC236}">
                <a16:creationId xmlns:a16="http://schemas.microsoft.com/office/drawing/2014/main" id="{8E6A34EF-3D21-2579-D36A-4842B84C0F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3367" y="5408151"/>
            <a:ext cx="519956" cy="519956"/>
          </a:xfrm>
          <a:prstGeom prst="rect">
            <a:avLst/>
          </a:prstGeom>
        </p:spPr>
      </p:pic>
      <p:pic>
        <p:nvPicPr>
          <p:cNvPr id="127" name="グラフィックス 126" descr="ユーザー">
            <a:extLst>
              <a:ext uri="{FF2B5EF4-FFF2-40B4-BE49-F238E27FC236}">
                <a16:creationId xmlns:a16="http://schemas.microsoft.com/office/drawing/2014/main" id="{0471DE27-99B3-83F0-3E76-E87FC16CE6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1161" y="5408151"/>
            <a:ext cx="519956" cy="519956"/>
          </a:xfrm>
          <a:prstGeom prst="rect">
            <a:avLst/>
          </a:prstGeom>
        </p:spPr>
      </p:pic>
      <p:sp>
        <p:nvSpPr>
          <p:cNvPr id="128" name="正方形/長方形 127">
            <a:extLst>
              <a:ext uri="{FF2B5EF4-FFF2-40B4-BE49-F238E27FC236}">
                <a16:creationId xmlns:a16="http://schemas.microsoft.com/office/drawing/2014/main" id="{7800EC1C-22DC-DDC0-44F7-E8ACE58F12DA}"/>
              </a:ext>
            </a:extLst>
          </p:cNvPr>
          <p:cNvSpPr/>
          <p:nvPr/>
        </p:nvSpPr>
        <p:spPr>
          <a:xfrm>
            <a:off x="5961654" y="4848519"/>
            <a:ext cx="2184902" cy="1398501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9" name="グラフィックス 128" descr="インターネット">
            <a:extLst>
              <a:ext uri="{FF2B5EF4-FFF2-40B4-BE49-F238E27FC236}">
                <a16:creationId xmlns:a16="http://schemas.microsoft.com/office/drawing/2014/main" id="{7764FD67-145F-E70D-C966-8529AD3033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45073" y="4969764"/>
            <a:ext cx="516155" cy="516155"/>
          </a:xfrm>
          <a:prstGeom prst="rect">
            <a:avLst/>
          </a:prstGeom>
        </p:spPr>
      </p:pic>
      <p:pic>
        <p:nvPicPr>
          <p:cNvPr id="130" name="グラフィックス 129" descr="インターネット">
            <a:extLst>
              <a:ext uri="{FF2B5EF4-FFF2-40B4-BE49-F238E27FC236}">
                <a16:creationId xmlns:a16="http://schemas.microsoft.com/office/drawing/2014/main" id="{7AFF2874-5744-7BF7-845D-41B048F7A0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87565" y="4969764"/>
            <a:ext cx="516155" cy="516155"/>
          </a:xfrm>
          <a:prstGeom prst="rect">
            <a:avLst/>
          </a:prstGeom>
        </p:spPr>
      </p:pic>
      <p:pic>
        <p:nvPicPr>
          <p:cNvPr id="131" name="グラフィックス 130" descr="インターネット">
            <a:extLst>
              <a:ext uri="{FF2B5EF4-FFF2-40B4-BE49-F238E27FC236}">
                <a16:creationId xmlns:a16="http://schemas.microsoft.com/office/drawing/2014/main" id="{8138AD28-7C28-3481-E6BD-DC7F6CE22C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18176" y="4969764"/>
            <a:ext cx="516155" cy="516155"/>
          </a:xfrm>
          <a:prstGeom prst="rect">
            <a:avLst/>
          </a:prstGeom>
        </p:spPr>
      </p:pic>
      <p:sp>
        <p:nvSpPr>
          <p:cNvPr id="132" name="Rectangle 2">
            <a:extLst>
              <a:ext uri="{FF2B5EF4-FFF2-40B4-BE49-F238E27FC236}">
                <a16:creationId xmlns:a16="http://schemas.microsoft.com/office/drawing/2014/main" id="{964F04D0-EC1D-F9FA-61BE-5E7D33923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7560" y="5892252"/>
            <a:ext cx="76598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参加者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9</a:t>
            </a:r>
          </a:p>
        </p:txBody>
      </p:sp>
      <p:sp>
        <p:nvSpPr>
          <p:cNvPr id="133" name="Rectangle 2">
            <a:extLst>
              <a:ext uri="{FF2B5EF4-FFF2-40B4-BE49-F238E27FC236}">
                <a16:creationId xmlns:a16="http://schemas.microsoft.com/office/drawing/2014/main" id="{E88BCAFF-8063-9C41-F735-1AB9A2793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1277" y="5892252"/>
            <a:ext cx="76598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参加者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67975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D5674-CD10-3E48-3F24-3548D7FD4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6FE582-5C2B-B4B4-1FE8-B3E111A10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4056032" cy="582706"/>
          </a:xfrm>
        </p:spPr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kumimoji="0"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4.</a:t>
            </a:r>
            <a:r>
              <a:rPr kumimoji="0" lang="ja-JP" altLang="en-US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○○アプリ使用手順</a:t>
            </a:r>
            <a:endParaRPr kumimoji="0" lang="en-US" alt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5040E65-9825-D846-97CC-F6F782D89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1192307"/>
            <a:ext cx="5633819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フェーズ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3.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イベント開始後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ユーザー名を入力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0" lang="ja-JP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2BA1E2B-36C5-6552-28FD-85AB6507C4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1" y="1775012"/>
            <a:ext cx="90605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ユーザー名入力画面にて参加者が、各々の端末にてユーザー名入力する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69020E5-B38E-4768-D69E-09DB33410B0F}"/>
              </a:ext>
            </a:extLst>
          </p:cNvPr>
          <p:cNvSpPr/>
          <p:nvPr/>
        </p:nvSpPr>
        <p:spPr>
          <a:xfrm>
            <a:off x="3482788" y="2438400"/>
            <a:ext cx="2501153" cy="37203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68F7DF8-1B8A-9904-AAE1-F507386F7FBA}"/>
              </a:ext>
            </a:extLst>
          </p:cNvPr>
          <p:cNvSpPr/>
          <p:nvPr/>
        </p:nvSpPr>
        <p:spPr>
          <a:xfrm>
            <a:off x="5145742" y="2819383"/>
            <a:ext cx="2178423" cy="6096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7842934A-7986-C779-92E9-04DE2AF55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1217" y="3798795"/>
            <a:ext cx="238859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ユーザー名を入れて下さい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FDA850-F2EA-DACC-007F-09AF9022D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4220" y="6360476"/>
            <a:ext cx="148116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ユーザー名入力画面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59237B9-5C72-EA1A-1651-4E16FB791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8112" y="4277517"/>
            <a:ext cx="52842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氏名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7FD7F17-4B4D-5DD3-ADA2-E766EC0014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7802" y="4277516"/>
            <a:ext cx="1731683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8A72AAE-782C-A379-F38E-C7C053461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1272" y="5665693"/>
            <a:ext cx="87854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入力完了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23177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76D5E-76F0-7A5B-1373-042263D74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D9FE45-EDE6-7151-78F3-DB5F19FA9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4056032" cy="582706"/>
          </a:xfrm>
        </p:spPr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kumimoji="0"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4.</a:t>
            </a:r>
            <a:r>
              <a:rPr kumimoji="0" lang="ja-JP" altLang="en-US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○○アプリ使用手順</a:t>
            </a:r>
            <a:endParaRPr kumimoji="0" lang="en-US" alt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58D5C12-8DB9-81BA-0929-0DE05F0A8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1192307"/>
            <a:ext cx="4835959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フェーズ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4.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イベント開始後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質問回答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0" lang="ja-JP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9F442AA-8119-EFA0-3E97-DFC24BFF8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3" y="1775012"/>
            <a:ext cx="77502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回答送信画面により主催者は各々の端末で質問を回答する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CF1BD63-F004-8BD9-A01D-62F326A9CEC0}"/>
              </a:ext>
            </a:extLst>
          </p:cNvPr>
          <p:cNvSpPr/>
          <p:nvPr/>
        </p:nvSpPr>
        <p:spPr>
          <a:xfrm>
            <a:off x="3307976" y="2236677"/>
            <a:ext cx="2501153" cy="41685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95E6C037-5F6A-D5C5-4543-58A9DFB43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7976" y="2308395"/>
            <a:ext cx="238859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質問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1.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好きな食べ物は？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7DD45B-F948-13FF-D48A-843AD8FC4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4164" y="2585394"/>
            <a:ext cx="1008033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カレーライス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33FCE2A6-45F3-4AB5-EE65-216347B96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4164" y="2903196"/>
            <a:ext cx="1008033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ハンバーグ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0D979325-5A85-94B3-A2AC-3F4F9C64C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4164" y="3220998"/>
            <a:ext cx="1008033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ラーメン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84BD69D8-F33F-00D7-22AE-287FD235B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7976" y="4422287"/>
            <a:ext cx="238859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質問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10.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好きなスポーツは？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E41FB623-345A-FF34-4354-E3E085ECA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4164" y="4699286"/>
            <a:ext cx="1008033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テニス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8EEEBA7C-FB6D-3CE7-20C3-32EA9AB84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4164" y="5017088"/>
            <a:ext cx="1008033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サッカー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7A25814A-48F5-061D-90CA-16927506A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4164" y="5334890"/>
            <a:ext cx="1008033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野球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59AEB66F-8301-4C02-6ECD-E268A85A4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2752" y="3497997"/>
            <a:ext cx="1008033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1D5483FE-F087-6303-20FA-0A1011D57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0786" y="6027387"/>
            <a:ext cx="815788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回答送信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B1739CAA-CF79-5C11-4830-DA3904EAB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019" y="2657112"/>
            <a:ext cx="192853" cy="166182"/>
          </a:xfrm>
          <a:prstGeom prst="rect">
            <a:avLst/>
          </a:prstGeom>
        </p:spPr>
      </p:pic>
      <p:pic>
        <p:nvPicPr>
          <p:cNvPr id="34" name="図 33">
            <a:extLst>
              <a:ext uri="{FF2B5EF4-FFF2-40B4-BE49-F238E27FC236}">
                <a16:creationId xmlns:a16="http://schemas.microsoft.com/office/drawing/2014/main" id="{ECC6CE9D-ED05-076A-A45C-9E65857A6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019" y="2964439"/>
            <a:ext cx="192853" cy="166182"/>
          </a:xfrm>
          <a:prstGeom prst="rect">
            <a:avLst/>
          </a:prstGeom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7C08EDF7-52ED-6D92-5547-A41185AA7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019" y="3258643"/>
            <a:ext cx="192853" cy="166182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9D0446E6-9F00-35FC-8534-87B90FD27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019" y="4763186"/>
            <a:ext cx="192853" cy="166182"/>
          </a:xfrm>
          <a:prstGeom prst="rect">
            <a:avLst/>
          </a:prstGeom>
        </p:spPr>
      </p:pic>
      <p:pic>
        <p:nvPicPr>
          <p:cNvPr id="38" name="図 37">
            <a:extLst>
              <a:ext uri="{FF2B5EF4-FFF2-40B4-BE49-F238E27FC236}">
                <a16:creationId xmlns:a16="http://schemas.microsoft.com/office/drawing/2014/main" id="{2A5A9707-3DCF-AE9A-4E5D-C9C7985CA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019" y="5065216"/>
            <a:ext cx="192853" cy="166182"/>
          </a:xfrm>
          <a:prstGeom prst="rect">
            <a:avLst/>
          </a:prstGeom>
        </p:spPr>
      </p:pic>
      <p:pic>
        <p:nvPicPr>
          <p:cNvPr id="40" name="図 39">
            <a:extLst>
              <a:ext uri="{FF2B5EF4-FFF2-40B4-BE49-F238E27FC236}">
                <a16:creationId xmlns:a16="http://schemas.microsoft.com/office/drawing/2014/main" id="{A71D8848-05F8-154E-5E97-E71C434BC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019" y="5388071"/>
            <a:ext cx="192853" cy="166182"/>
          </a:xfrm>
          <a:prstGeom prst="rect">
            <a:avLst/>
          </a:prstGeom>
        </p:spPr>
      </p:pic>
      <p:sp>
        <p:nvSpPr>
          <p:cNvPr id="41" name="Rectangle 2">
            <a:extLst>
              <a:ext uri="{FF2B5EF4-FFF2-40B4-BE49-F238E27FC236}">
                <a16:creationId xmlns:a16="http://schemas.microsoft.com/office/drawing/2014/main" id="{372903F4-1853-EF49-0167-0E87455FD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7967" y="6464890"/>
            <a:ext cx="148116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回答送信画面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1341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B6FC3-B502-51E1-1ADF-1B69A161D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2DFAD3-50EF-9098-1B56-0A10E4212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4056032" cy="582706"/>
          </a:xfrm>
        </p:spPr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kumimoji="0"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4.</a:t>
            </a:r>
            <a:r>
              <a:rPr kumimoji="0" lang="ja-JP" altLang="en-US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○○アプリ使用手順</a:t>
            </a:r>
            <a:endParaRPr kumimoji="0" lang="en-US" alt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58F66A6-FB25-2803-2785-810CC6476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1192307"/>
            <a:ext cx="5019239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フェーズ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5.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イベント開始後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共通度表示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0" lang="ja-JP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AD479DF-5EBE-BB2B-DDF6-B53018C3C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2" y="1775012"/>
            <a:ext cx="76088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共通度画面によりグループメンバー同士の共通度を確認する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9FB7150-E843-E1D4-F699-7B5F4D610CD3}"/>
              </a:ext>
            </a:extLst>
          </p:cNvPr>
          <p:cNvSpPr/>
          <p:nvPr/>
        </p:nvSpPr>
        <p:spPr>
          <a:xfrm>
            <a:off x="3875644" y="3310182"/>
            <a:ext cx="2598404" cy="31419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41" name="Rectangle 2">
            <a:extLst>
              <a:ext uri="{FF2B5EF4-FFF2-40B4-BE49-F238E27FC236}">
                <a16:creationId xmlns:a16="http://schemas.microsoft.com/office/drawing/2014/main" id="{912F03B7-7711-440F-AF7E-775970011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1934" y="6452168"/>
            <a:ext cx="199454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参加者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共通度画面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93C3573A-3737-DEB1-4D3D-0B7CB8AB7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3511" y="4725387"/>
            <a:ext cx="92012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グループ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A</a:t>
            </a:r>
          </a:p>
        </p:txBody>
      </p:sp>
      <p:pic>
        <p:nvPicPr>
          <p:cNvPr id="28" name="グラフィックス 27" descr="ユーザー">
            <a:extLst>
              <a:ext uri="{FF2B5EF4-FFF2-40B4-BE49-F238E27FC236}">
                <a16:creationId xmlns:a16="http://schemas.microsoft.com/office/drawing/2014/main" id="{4141091D-A007-B788-D1B2-2C9BCBC26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1067" y="3862941"/>
            <a:ext cx="519956" cy="519956"/>
          </a:xfrm>
          <a:prstGeom prst="rect">
            <a:avLst/>
          </a:prstGeom>
        </p:spPr>
      </p:pic>
      <p:sp>
        <p:nvSpPr>
          <p:cNvPr id="29" name="Rectangle 2">
            <a:extLst>
              <a:ext uri="{FF2B5EF4-FFF2-40B4-BE49-F238E27FC236}">
                <a16:creationId xmlns:a16="http://schemas.microsoft.com/office/drawing/2014/main" id="{1AC2E30F-783A-5294-FE2F-76A27C710B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158" y="4347042"/>
            <a:ext cx="76598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参加者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pic>
        <p:nvPicPr>
          <p:cNvPr id="30" name="グラフィックス 29" descr="ユーザー">
            <a:extLst>
              <a:ext uri="{FF2B5EF4-FFF2-40B4-BE49-F238E27FC236}">
                <a16:creationId xmlns:a16="http://schemas.microsoft.com/office/drawing/2014/main" id="{BAC2B9B2-9DE7-34F8-0821-594D8E461A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4942" y="3862941"/>
            <a:ext cx="519956" cy="519956"/>
          </a:xfrm>
          <a:prstGeom prst="rect">
            <a:avLst/>
          </a:prstGeom>
        </p:spPr>
      </p:pic>
      <p:pic>
        <p:nvPicPr>
          <p:cNvPr id="32" name="グラフィックス 31" descr="ユーザー">
            <a:extLst>
              <a:ext uri="{FF2B5EF4-FFF2-40B4-BE49-F238E27FC236}">
                <a16:creationId xmlns:a16="http://schemas.microsoft.com/office/drawing/2014/main" id="{BEE8349F-8E85-6654-C70A-9E324FD52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2736" y="3862941"/>
            <a:ext cx="519956" cy="519956"/>
          </a:xfrm>
          <a:prstGeom prst="rect">
            <a:avLst/>
          </a:prstGeom>
        </p:spPr>
      </p:pic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A5B44715-9670-6DEE-97D5-3FC7132620F6}"/>
              </a:ext>
            </a:extLst>
          </p:cNvPr>
          <p:cNvSpPr/>
          <p:nvPr/>
        </p:nvSpPr>
        <p:spPr>
          <a:xfrm>
            <a:off x="793229" y="3303309"/>
            <a:ext cx="2184902" cy="1398501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7" name="グラフィックス 36" descr="インターネット">
            <a:extLst>
              <a:ext uri="{FF2B5EF4-FFF2-40B4-BE49-F238E27FC236}">
                <a16:creationId xmlns:a16="http://schemas.microsoft.com/office/drawing/2014/main" id="{4AA6423E-6F9E-495A-3F24-4EC04DD8D5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6648" y="3424554"/>
            <a:ext cx="516155" cy="516155"/>
          </a:xfrm>
          <a:prstGeom prst="rect">
            <a:avLst/>
          </a:prstGeom>
        </p:spPr>
      </p:pic>
      <p:pic>
        <p:nvPicPr>
          <p:cNvPr id="39" name="グラフィックス 38" descr="インターネット">
            <a:extLst>
              <a:ext uri="{FF2B5EF4-FFF2-40B4-BE49-F238E27FC236}">
                <a16:creationId xmlns:a16="http://schemas.microsoft.com/office/drawing/2014/main" id="{9DF64CD0-DFDA-733B-76F7-CBCB0C50B8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9140" y="3424554"/>
            <a:ext cx="516155" cy="516155"/>
          </a:xfrm>
          <a:prstGeom prst="rect">
            <a:avLst/>
          </a:prstGeom>
        </p:spPr>
      </p:pic>
      <p:pic>
        <p:nvPicPr>
          <p:cNvPr id="42" name="グラフィックス 41" descr="インターネット">
            <a:extLst>
              <a:ext uri="{FF2B5EF4-FFF2-40B4-BE49-F238E27FC236}">
                <a16:creationId xmlns:a16="http://schemas.microsoft.com/office/drawing/2014/main" id="{5B449C65-EDDA-006A-DBD7-7793A2B16D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49751" y="3424554"/>
            <a:ext cx="516155" cy="516155"/>
          </a:xfrm>
          <a:prstGeom prst="rect">
            <a:avLst/>
          </a:prstGeom>
        </p:spPr>
      </p:pic>
      <p:sp>
        <p:nvSpPr>
          <p:cNvPr id="43" name="Rectangle 2">
            <a:extLst>
              <a:ext uri="{FF2B5EF4-FFF2-40B4-BE49-F238E27FC236}">
                <a16:creationId xmlns:a16="http://schemas.microsoft.com/office/drawing/2014/main" id="{EFA43C2A-06DF-2565-052B-9AF051031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135" y="4347042"/>
            <a:ext cx="76598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参加者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</a:p>
        </p:txBody>
      </p:sp>
      <p:sp>
        <p:nvSpPr>
          <p:cNvPr id="44" name="Rectangle 2">
            <a:extLst>
              <a:ext uri="{FF2B5EF4-FFF2-40B4-BE49-F238E27FC236}">
                <a16:creationId xmlns:a16="http://schemas.microsoft.com/office/drawing/2014/main" id="{D4C0C47A-0828-9217-E8EE-6F34D6D0C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2852" y="4347042"/>
            <a:ext cx="76598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参加者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</a:p>
        </p:txBody>
      </p:sp>
      <p:sp>
        <p:nvSpPr>
          <p:cNvPr id="46" name="矢印: 下カーブ 45">
            <a:extLst>
              <a:ext uri="{FF2B5EF4-FFF2-40B4-BE49-F238E27FC236}">
                <a16:creationId xmlns:a16="http://schemas.microsoft.com/office/drawing/2014/main" id="{67AD79A5-C323-C658-EF68-4406B094C26E}"/>
              </a:ext>
            </a:extLst>
          </p:cNvPr>
          <p:cNvSpPr/>
          <p:nvPr/>
        </p:nvSpPr>
        <p:spPr>
          <a:xfrm>
            <a:off x="1037380" y="2361050"/>
            <a:ext cx="4035139" cy="1130861"/>
          </a:xfrm>
          <a:prstGeom prst="curvedDownArrow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7" name="Rectangle 2">
            <a:extLst>
              <a:ext uri="{FF2B5EF4-FFF2-40B4-BE49-F238E27FC236}">
                <a16:creationId xmlns:a16="http://schemas.microsoft.com/office/drawing/2014/main" id="{E5D8A91A-42B1-12DC-2AD5-EDF80A62E4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5644" y="3503978"/>
            <a:ext cx="259840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参加者</a:t>
            </a:r>
            <a:r>
              <a:rPr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さんとの共通度は</a:t>
            </a:r>
            <a:r>
              <a:rPr lang="en-US" altLang="ja-JP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80</a:t>
            </a:r>
            <a:r>
              <a:rPr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％</a:t>
            </a: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です</a:t>
            </a: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97B73B2A-65E4-A5D6-0CC7-124DAC1A1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9927" y="3780977"/>
            <a:ext cx="10641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詳細はこちら</a:t>
            </a:r>
            <a:endParaRPr lang="en-US" altLang="ja-JP" sz="1200" b="1" dirty="0">
              <a:solidFill>
                <a:srgbClr val="0070C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Rectangle 2">
            <a:extLst>
              <a:ext uri="{FF2B5EF4-FFF2-40B4-BE49-F238E27FC236}">
                <a16:creationId xmlns:a16="http://schemas.microsoft.com/office/drawing/2014/main" id="{CF8CC048-8F40-1B43-0F1F-34C9563C4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5644" y="4164044"/>
            <a:ext cx="259840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参加者</a:t>
            </a:r>
            <a:r>
              <a:rPr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さんとの共通度は</a:t>
            </a:r>
            <a:r>
              <a:rPr lang="en-US" altLang="ja-JP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</a:t>
            </a:r>
            <a:r>
              <a:rPr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％</a:t>
            </a: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です</a:t>
            </a: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Rectangle 2">
            <a:extLst>
              <a:ext uri="{FF2B5EF4-FFF2-40B4-BE49-F238E27FC236}">
                <a16:creationId xmlns:a16="http://schemas.microsoft.com/office/drawing/2014/main" id="{901EF95F-BA25-3206-1F35-2880CE49F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9928" y="4441043"/>
            <a:ext cx="106412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詳細はこちら</a:t>
            </a:r>
            <a:endParaRPr lang="en-US" altLang="ja-JP" sz="1200" b="1" dirty="0">
              <a:solidFill>
                <a:srgbClr val="0070C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5" name="Rectangle 2">
            <a:extLst>
              <a:ext uri="{FF2B5EF4-FFF2-40B4-BE49-F238E27FC236}">
                <a16:creationId xmlns:a16="http://schemas.microsoft.com/office/drawing/2014/main" id="{1A298066-7EEB-60C4-D73D-9ABD539E9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0005" y="5665693"/>
            <a:ext cx="2182260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メンバーの回答結果を表示する</a:t>
            </a: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12537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AC5C9-D23E-9855-E08E-0F7D72506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AE9237-3E6D-17BF-7F4A-A62FECF8B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4056032" cy="582706"/>
          </a:xfrm>
        </p:spPr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kumimoji="0"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4.</a:t>
            </a:r>
            <a:r>
              <a:rPr kumimoji="0" lang="ja-JP" altLang="en-US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○○アプリ使用手順</a:t>
            </a:r>
            <a:endParaRPr kumimoji="0" lang="en-US" alt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572F398-C42C-6A18-CCB7-5D09C3639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1192307"/>
            <a:ext cx="579671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フェーズ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6.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イベント開始後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共通度詳細表示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0" lang="ja-JP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7ED67C7-5870-D4A8-B97B-62D523879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2" y="1708218"/>
            <a:ext cx="916425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共通度画面の「詳細はこちら」を押下して共通度詳細画面を確認する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共通度に応じて共通度詳細画面の内容は変わる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C206BEC-BC73-9E2A-CD7E-E3E6F82887B9}"/>
              </a:ext>
            </a:extLst>
          </p:cNvPr>
          <p:cNvSpPr/>
          <p:nvPr/>
        </p:nvSpPr>
        <p:spPr>
          <a:xfrm>
            <a:off x="677332" y="2829415"/>
            <a:ext cx="2598404" cy="31419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41" name="Rectangle 2">
            <a:extLst>
              <a:ext uri="{FF2B5EF4-FFF2-40B4-BE49-F238E27FC236}">
                <a16:creationId xmlns:a16="http://schemas.microsoft.com/office/drawing/2014/main" id="{53B31D7B-CA1A-4A67-97F2-219053A9D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947" y="5984602"/>
            <a:ext cx="224117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共通度詳細画面（共通度</a:t>
            </a:r>
            <a:r>
              <a:rPr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低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Rectangle 2">
            <a:extLst>
              <a:ext uri="{FF2B5EF4-FFF2-40B4-BE49-F238E27FC236}">
                <a16:creationId xmlns:a16="http://schemas.microsoft.com/office/drawing/2014/main" id="{4245CCED-8CF3-B873-DF47-D38A32BBF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512" y="2916627"/>
            <a:ext cx="244404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参加者</a:t>
            </a:r>
            <a:r>
              <a:rPr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さんとの共通度は低いです</a:t>
            </a: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A656A4-383F-8B7E-83D3-AFEFB6491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046" y="3429000"/>
            <a:ext cx="167603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ーーーーーーーー</a:t>
            </a: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ーーーーーーーー</a:t>
            </a: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ーーーーーーーー</a:t>
            </a: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ーーーーーーーー</a:t>
            </a: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FE55018-CF4A-EA41-7BEE-3AD650DADEBB}"/>
              </a:ext>
            </a:extLst>
          </p:cNvPr>
          <p:cNvSpPr/>
          <p:nvPr/>
        </p:nvSpPr>
        <p:spPr>
          <a:xfrm>
            <a:off x="3714334" y="2829415"/>
            <a:ext cx="2598404" cy="31419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5F93EA7-C18F-CA96-49E9-A89101362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2949" y="5984602"/>
            <a:ext cx="224117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共通度詳細画面（共通度</a:t>
            </a:r>
            <a:r>
              <a:rPr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中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9AA978E-69FA-A3D9-7B4D-659E86E033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1514" y="2916627"/>
            <a:ext cx="244404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参加者</a:t>
            </a:r>
            <a:r>
              <a:rPr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さんとの共通度は中です</a:t>
            </a: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D3C4DCB8-BF22-2D58-CC8C-C9A07533B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1048" y="3429000"/>
            <a:ext cx="167603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ーーーーーーーー</a:t>
            </a: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ーーーーーーーー</a:t>
            </a: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ーーーーーーーー</a:t>
            </a: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ーーーーーーーー</a:t>
            </a: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BCDCBAD-EFE7-C29B-6D30-03CBD94BE25D}"/>
              </a:ext>
            </a:extLst>
          </p:cNvPr>
          <p:cNvSpPr/>
          <p:nvPr/>
        </p:nvSpPr>
        <p:spPr>
          <a:xfrm>
            <a:off x="6751336" y="2829415"/>
            <a:ext cx="2598404" cy="31419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E572FF42-3704-F2CC-0168-52B946D7D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9951" y="5984602"/>
            <a:ext cx="224117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共通度詳細画面（共通度</a:t>
            </a:r>
            <a:r>
              <a:rPr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高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93595331-9588-418B-1BF7-8B409AF4E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8516" y="2916627"/>
            <a:ext cx="244404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参加者</a:t>
            </a:r>
            <a:r>
              <a:rPr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さんとの共通度は高いです</a:t>
            </a: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4D7C99DA-2D1C-A058-F61E-F6F0EFE1B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8050" y="3429000"/>
            <a:ext cx="167603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ーーーーーーーー</a:t>
            </a: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ーーーーーーーー</a:t>
            </a: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ーーーーーーーー</a:t>
            </a: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ーーーーーーーー</a:t>
            </a: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71C40797-D59B-4455-BC8F-02D02D8BE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6617" y="5562503"/>
            <a:ext cx="544805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戻る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255EF565-0B21-AC67-88A7-8AAB2DEF3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4830" y="5562503"/>
            <a:ext cx="544805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戻る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D293B4B4-2D9D-2E0C-3059-25958D30F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0624" y="5562502"/>
            <a:ext cx="544805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戻る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吹き出し: 四角形 18">
            <a:extLst>
              <a:ext uri="{FF2B5EF4-FFF2-40B4-BE49-F238E27FC236}">
                <a16:creationId xmlns:a16="http://schemas.microsoft.com/office/drawing/2014/main" id="{2DBAE28F-91A5-9BE1-2258-27233F1CE6BF}"/>
              </a:ext>
            </a:extLst>
          </p:cNvPr>
          <p:cNvSpPr/>
          <p:nvPr/>
        </p:nvSpPr>
        <p:spPr>
          <a:xfrm>
            <a:off x="-1197203" y="2593461"/>
            <a:ext cx="1951716" cy="1338829"/>
          </a:xfrm>
          <a:prstGeom prst="wedgeRectCallout">
            <a:avLst>
              <a:gd name="adj1" fmla="val 97679"/>
              <a:gd name="adj2" fmla="val 78278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参加者同士が会話のネタとなるような文言</a:t>
            </a:r>
          </a:p>
        </p:txBody>
      </p:sp>
    </p:spTree>
    <p:extLst>
      <p:ext uri="{BB962C8B-B14F-4D97-AF65-F5344CB8AC3E}">
        <p14:creationId xmlns:p14="http://schemas.microsoft.com/office/powerpoint/2010/main" val="27924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6808F-40F5-4B5B-3285-4D5A3A2C0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D45244-92D0-A76A-259F-E725950A6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4056032" cy="582706"/>
          </a:xfrm>
        </p:spPr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kumimoji="0"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4.</a:t>
            </a:r>
            <a:r>
              <a:rPr kumimoji="0" lang="ja-JP" altLang="en-US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○○アプリ使用手順</a:t>
            </a:r>
            <a:endParaRPr kumimoji="0" lang="en-US" alt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0D12149-CA94-5BEE-344D-9A8FE5674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1192307"/>
            <a:ext cx="579671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フェーズ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7.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イベント開始後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回答内容確認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0" lang="ja-JP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B658331-7FBE-8E2E-5527-A6CED776C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2" y="1708218"/>
            <a:ext cx="897571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回答確認画面にて共通度画面の「メンバーの回答結果を表示する」を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押下してメンバーの回答内容を確認する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4B653A7-A3C4-BCA3-FE89-AC3539C7F5C7}"/>
              </a:ext>
            </a:extLst>
          </p:cNvPr>
          <p:cNvSpPr/>
          <p:nvPr/>
        </p:nvSpPr>
        <p:spPr>
          <a:xfrm>
            <a:off x="3065454" y="2539215"/>
            <a:ext cx="4881341" cy="40595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CF6B4EDE-8994-9228-DF9D-13C08BA72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4919" y="6581001"/>
            <a:ext cx="113939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回答確認画面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A57A85B6-7D4D-12F5-2791-2790DC66A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0359" y="6140756"/>
            <a:ext cx="544805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戻る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19" name="表 18">
            <a:extLst>
              <a:ext uri="{FF2B5EF4-FFF2-40B4-BE49-F238E27FC236}">
                <a16:creationId xmlns:a16="http://schemas.microsoft.com/office/drawing/2014/main" id="{207ED041-EEE1-3627-DB10-6BA05D05E5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600920"/>
              </p:ext>
            </p:extLst>
          </p:nvPr>
        </p:nvGraphicFramePr>
        <p:xfrm>
          <a:off x="3215563" y="3920866"/>
          <a:ext cx="4561550" cy="1333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7833">
                  <a:extLst>
                    <a:ext uri="{9D8B030D-6E8A-4147-A177-3AD203B41FA5}">
                      <a16:colId xmlns:a16="http://schemas.microsoft.com/office/drawing/2014/main" val="2381466954"/>
                    </a:ext>
                  </a:extLst>
                </a:gridCol>
                <a:gridCol w="1045905">
                  <a:extLst>
                    <a:ext uri="{9D8B030D-6E8A-4147-A177-3AD203B41FA5}">
                      <a16:colId xmlns:a16="http://schemas.microsoft.com/office/drawing/2014/main" val="1646460591"/>
                    </a:ext>
                  </a:extLst>
                </a:gridCol>
                <a:gridCol w="933095">
                  <a:extLst>
                    <a:ext uri="{9D8B030D-6E8A-4147-A177-3AD203B41FA5}">
                      <a16:colId xmlns:a16="http://schemas.microsoft.com/office/drawing/2014/main" val="2908524810"/>
                    </a:ext>
                  </a:extLst>
                </a:gridCol>
                <a:gridCol w="744717">
                  <a:extLst>
                    <a:ext uri="{9D8B030D-6E8A-4147-A177-3AD203B41FA5}">
                      <a16:colId xmlns:a16="http://schemas.microsoft.com/office/drawing/2014/main" val="221747260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100" u="none" strike="noStrike">
                          <a:effectLst/>
                        </a:rPr>
                        <a:t>参加者</a:t>
                      </a:r>
                      <a:r>
                        <a:rPr lang="en-US" altLang="ja-JP" sz="1100" u="none" strike="noStrike">
                          <a:effectLst/>
                        </a:rPr>
                        <a:t>1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100" u="none" strike="noStrike">
                          <a:effectLst/>
                        </a:rPr>
                        <a:t>参加者</a:t>
                      </a:r>
                      <a:r>
                        <a:rPr lang="en-US" altLang="ja-JP" sz="1100" u="none" strike="noStrike">
                          <a:effectLst/>
                        </a:rPr>
                        <a:t>2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100" u="none" strike="noStrike">
                          <a:effectLst/>
                        </a:rPr>
                        <a:t>参加者</a:t>
                      </a:r>
                      <a:r>
                        <a:rPr lang="en-US" altLang="ja-JP" sz="1100" u="none" strike="noStrike">
                          <a:effectLst/>
                        </a:rPr>
                        <a:t>3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562293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100" u="none" strike="noStrike">
                          <a:effectLst/>
                        </a:rPr>
                        <a:t>質問</a:t>
                      </a:r>
                      <a:r>
                        <a:rPr lang="en-US" altLang="ja-JP" sz="1100" u="none" strike="noStrike">
                          <a:effectLst/>
                        </a:rPr>
                        <a:t>1.</a:t>
                      </a:r>
                      <a:r>
                        <a:rPr lang="ja-JP" altLang="en-US" sz="1100" u="none" strike="noStrike">
                          <a:effectLst/>
                        </a:rPr>
                        <a:t>好きな食べ物は？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100" u="none" strike="noStrike">
                          <a:effectLst/>
                        </a:rPr>
                        <a:t>カレーレイス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100" u="none" strike="noStrike">
                          <a:effectLst/>
                        </a:rPr>
                        <a:t>カレーライス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100" u="none" strike="noStrike">
                          <a:effectLst/>
                        </a:rPr>
                        <a:t>ハンバーグ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888736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100" u="none" strike="noStrike">
                          <a:effectLst/>
                        </a:rPr>
                        <a:t>・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100" u="none" strike="noStrike">
                          <a:effectLst/>
                        </a:rPr>
                        <a:t>・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100" u="none" strike="noStrike">
                          <a:effectLst/>
                        </a:rPr>
                        <a:t>・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100" u="none" strike="noStrike">
                          <a:effectLst/>
                        </a:rPr>
                        <a:t>・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926590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100" u="none" strike="noStrike">
                          <a:effectLst/>
                        </a:rPr>
                        <a:t>・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100" u="none" strike="noStrike">
                          <a:effectLst/>
                        </a:rPr>
                        <a:t>・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100" u="none" strike="noStrike">
                          <a:effectLst/>
                        </a:rPr>
                        <a:t>・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100" u="none" strike="noStrike">
                          <a:effectLst/>
                        </a:rPr>
                        <a:t>・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645276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100" u="none" strike="noStrike">
                          <a:effectLst/>
                        </a:rPr>
                        <a:t>・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100" u="none" strike="noStrike">
                          <a:effectLst/>
                        </a:rPr>
                        <a:t>・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100" u="none" strike="noStrike">
                          <a:effectLst/>
                        </a:rPr>
                        <a:t>・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100" u="none" strike="noStrike">
                          <a:effectLst/>
                        </a:rPr>
                        <a:t>・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095721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100" u="none" strike="noStrike">
                          <a:effectLst/>
                        </a:rPr>
                        <a:t>・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100" u="none" strike="noStrike">
                          <a:effectLst/>
                        </a:rPr>
                        <a:t>・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100" u="none" strike="noStrike">
                          <a:effectLst/>
                        </a:rPr>
                        <a:t>・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100" u="none" strike="noStrike">
                          <a:effectLst/>
                        </a:rPr>
                        <a:t>・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559432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100" u="none" strike="noStrike" dirty="0">
                          <a:effectLst/>
                        </a:rPr>
                        <a:t>質問</a:t>
                      </a:r>
                      <a:r>
                        <a:rPr lang="en-US" altLang="ja-JP" sz="1100" u="none" strike="noStrike" dirty="0">
                          <a:effectLst/>
                        </a:rPr>
                        <a:t>10.</a:t>
                      </a:r>
                      <a:r>
                        <a:rPr lang="ja-JP" altLang="en-US" sz="1100" u="none" strike="noStrike" dirty="0">
                          <a:effectLst/>
                        </a:rPr>
                        <a:t>好きなスポーツは？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100" u="none" strike="noStrike">
                          <a:effectLst/>
                        </a:rPr>
                        <a:t>サッカー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100" u="none" strike="noStrike">
                          <a:effectLst/>
                        </a:rPr>
                        <a:t>野球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100" u="none" strike="noStrike" dirty="0">
                          <a:effectLst/>
                        </a:rPr>
                        <a:t>テニス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96865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3240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DCB03-AEB0-0F40-0EEC-53AF751D8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47ED2B-4B55-D9C4-F8B4-93B1B06DA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2452366" cy="582706"/>
          </a:xfrm>
        </p:spPr>
        <p:txBody>
          <a:bodyPr>
            <a:normAutofit fontScale="90000"/>
          </a:bodyPr>
          <a:lstStyle/>
          <a:p>
            <a:pPr defTabSz="914400" eaLnBrk="0" fontAlgn="base" hangingPunct="0">
              <a:spcAft>
                <a:spcPct val="0"/>
              </a:spcAft>
            </a:pPr>
            <a:r>
              <a:rPr kumimoji="0"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5.</a:t>
            </a:r>
            <a:r>
              <a:rPr kumimoji="0" lang="ja-JP" altLang="en-US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役割分担</a:t>
            </a:r>
            <a:endParaRPr kumimoji="0" lang="ja-JP" alt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EE88E86-C230-3226-59DE-FF49AC04D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5" y="1192306"/>
            <a:ext cx="1217453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ja-JP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A95968-1639-B616-E04D-8C55A2BDF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3" y="2023303"/>
            <a:ext cx="94438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ja-JP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19166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1DEF1-8279-D38C-D140-9E8CE9D89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66B557-E39E-627F-4AC2-B0B8452F8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1905611" cy="582706"/>
          </a:xfrm>
        </p:spPr>
        <p:txBody>
          <a:bodyPr>
            <a:normAutofit fontScale="90000"/>
          </a:bodyPr>
          <a:lstStyle/>
          <a:p>
            <a:pPr defTabSz="914400" eaLnBrk="0" fontAlgn="base" hangingPunct="0">
              <a:spcAft>
                <a:spcPct val="0"/>
              </a:spcAft>
            </a:pPr>
            <a:r>
              <a:rPr kumimoji="0"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6.</a:t>
            </a:r>
            <a:r>
              <a:rPr kumimoji="0" lang="ja-JP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改善点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88DFBCF-CEA8-7E84-917E-06B97399F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5" y="1192306"/>
            <a:ext cx="1217453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改善点</a:t>
            </a:r>
            <a:endParaRPr kumimoji="0" lang="ja-JP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900C45-E3DB-8898-09C2-35B7C16A0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3" y="1838637"/>
            <a:ext cx="944381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例えば、、、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git</a:t>
            </a:r>
            <a:r>
              <a:rPr kumimoji="0" lang="ja-JP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によるソース管理</a:t>
            </a:r>
          </a:p>
        </p:txBody>
      </p:sp>
    </p:spTree>
    <p:extLst>
      <p:ext uri="{BB962C8B-B14F-4D97-AF65-F5344CB8AC3E}">
        <p14:creationId xmlns:p14="http://schemas.microsoft.com/office/powerpoint/2010/main" val="297866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89FAA-0E0F-E042-FAF7-7E462255E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F284F4-A005-24A3-495D-DFB5B7123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760196" cy="582706"/>
          </a:xfrm>
        </p:spPr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kumimoji="0"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7.</a:t>
            </a:r>
            <a:r>
              <a:rPr kumimoji="0" lang="ja-JP" altLang="en-US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まとめ</a:t>
            </a:r>
            <a:endParaRPr kumimoji="0" lang="ja-JP" alt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45F1BB5-C810-1AEF-774C-71D4EC306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5" y="1192306"/>
            <a:ext cx="242408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学んだこと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F9C04B5-7BEA-679C-C9B1-A2769B50C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3" y="1775012"/>
            <a:ext cx="94438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/>
              <a:t>ーーーー</a:t>
            </a:r>
            <a:endParaRPr kumimoji="0" lang="ja-JP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9728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36492-40BE-4AF3-F5EA-0EA669F60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9C3C2E-1A6C-817C-D637-E0DD9CDA4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760196" cy="582706"/>
          </a:xfrm>
        </p:spPr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kumimoji="0"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8.</a:t>
            </a:r>
            <a:r>
              <a:rPr kumimoji="0" lang="ja-JP" altLang="en-US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付録</a:t>
            </a:r>
            <a:endParaRPr kumimoji="0" lang="ja-JP" alt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598FE3D-3689-F500-3AB3-58775C0CB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5" y="1192306"/>
            <a:ext cx="242408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ソースコード</a:t>
            </a:r>
            <a:endParaRPr kumimoji="0" lang="ja-JP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4AA6A34-C39D-F7C3-97A2-ABFF593F5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3" y="1775012"/>
            <a:ext cx="94438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http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:</a:t>
            </a:r>
            <a:endParaRPr kumimoji="0" lang="ja-JP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56045214"/>
      </p:ext>
    </p:extLst>
  </p:cSld>
  <p:clrMapOvr>
    <a:masterClrMapping/>
  </p:clrMapOvr>
</p:sld>
</file>

<file path=ppt/theme/theme1.xml><?xml version="1.0" encoding="utf-8"?>
<a:theme xmlns:a="http://schemas.openxmlformats.org/drawingml/2006/main" name="ファセット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149</TotalTime>
  <Words>768</Words>
  <Application>Microsoft Office PowerPoint</Application>
  <PresentationFormat>ワイド画面</PresentationFormat>
  <Paragraphs>156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1" baseType="lpstr">
      <vt:lpstr>Meiryo UI</vt:lpstr>
      <vt:lpstr>游ゴシック</vt:lpstr>
      <vt:lpstr>Arial</vt:lpstr>
      <vt:lpstr>Trebuchet MS</vt:lpstr>
      <vt:lpstr>Wingdings 3</vt:lpstr>
      <vt:lpstr>ファセット</vt:lpstr>
      <vt:lpstr>○○アプリについて </vt:lpstr>
      <vt:lpstr>目次</vt:lpstr>
      <vt:lpstr>1.背景・課題</vt:lpstr>
      <vt:lpstr>2.アプリ開発目的</vt:lpstr>
      <vt:lpstr>3.○○アプリの概要</vt:lpstr>
      <vt:lpstr>4.○○アプリ使用手順</vt:lpstr>
      <vt:lpstr>4.○○アプリ使用手順</vt:lpstr>
      <vt:lpstr>4.○○アプリ使用手順</vt:lpstr>
      <vt:lpstr>4.○○アプリ使用手順</vt:lpstr>
      <vt:lpstr>4.○○アプリ使用手順</vt:lpstr>
      <vt:lpstr>4.○○アプリ使用手順</vt:lpstr>
      <vt:lpstr>5.役割分担</vt:lpstr>
      <vt:lpstr>6.改善点</vt:lpstr>
      <vt:lpstr>7.まとめ</vt:lpstr>
      <vt:lpstr>8.付録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竜盛 前渕</dc:creator>
  <cp:lastModifiedBy>竜盛 前渕</cp:lastModifiedBy>
  <cp:revision>90</cp:revision>
  <dcterms:created xsi:type="dcterms:W3CDTF">2026-01-31T13:59:45Z</dcterms:created>
  <dcterms:modified xsi:type="dcterms:W3CDTF">2026-02-07T10:50:02Z</dcterms:modified>
</cp:coreProperties>
</file>