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sldIdLst>
    <p:sldId id="256" r:id="rId2"/>
    <p:sldId id="260" r:id="rId3"/>
    <p:sldId id="261" r:id="rId4"/>
    <p:sldId id="262" r:id="rId5"/>
    <p:sldId id="263" r:id="rId6"/>
    <p:sldId id="268" r:id="rId7"/>
    <p:sldId id="275" r:id="rId8"/>
    <p:sldId id="267" r:id="rId9"/>
    <p:sldId id="274" r:id="rId10"/>
    <p:sldId id="269" r:id="rId11"/>
    <p:sldId id="270" r:id="rId12"/>
    <p:sldId id="271" r:id="rId13"/>
    <p:sldId id="265" r:id="rId14"/>
    <p:sldId id="272" r:id="rId15"/>
    <p:sldId id="266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8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4444" autoAdjust="0"/>
  </p:normalViewPr>
  <p:slideViewPr>
    <p:cSldViewPr snapToGrid="0">
      <p:cViewPr varScale="1">
        <p:scale>
          <a:sx n="62" d="100"/>
          <a:sy n="62" d="100"/>
        </p:scale>
        <p:origin x="86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4A2DA1-27B4-4683-BF67-59956D1BF856}" type="datetimeFigureOut">
              <a:rPr kumimoji="1" lang="ja-JP" altLang="en-US" smtClean="0"/>
              <a:t>2026/2/14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D86DA3-4F89-40D8-BD55-00CDD58BB4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326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kumimoji="1"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2F5B00-B85F-0525-3621-D128D50D86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368820"/>
            <a:ext cx="8458866" cy="898361"/>
          </a:xfrm>
        </p:spPr>
        <p:txBody>
          <a:bodyPr/>
          <a:lstStyle/>
          <a:p>
            <a:pPr algn="l"/>
            <a:r>
              <a:rPr lang="ja-JP" altLang="en-US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共通点発見アプリについて</a:t>
            </a:r>
            <a:endParaRPr kumimoji="1" lang="ja-JP" altLang="en-US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C51E00-4832-783E-7FDC-475B6C28ED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5270251" cy="2556155"/>
          </a:xfrm>
        </p:spPr>
        <p:txBody>
          <a:bodyPr>
            <a:noAutofit/>
          </a:bodyPr>
          <a:lstStyle/>
          <a:p>
            <a:pPr algn="l"/>
            <a:r>
              <a:rPr lang="ja-JP" altLang="en-US" sz="2400" b="1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プロジェクトメンバー</a:t>
            </a:r>
            <a:endParaRPr lang="en-US" altLang="ja-JP" sz="2400" b="1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l"/>
            <a:r>
              <a:rPr lang="ja-JP" altLang="en-US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石本 純貴</a:t>
            </a:r>
            <a:endParaRPr lang="en-US" altLang="ja-JP" sz="24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l"/>
            <a:r>
              <a:rPr lang="ja-JP" altLang="en-US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怡田 嶺哉</a:t>
            </a:r>
            <a:endParaRPr lang="en-US" altLang="ja-JP" sz="24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l"/>
            <a:r>
              <a:rPr lang="ja-JP" altLang="en-US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棚 英雄</a:t>
            </a:r>
            <a:endParaRPr lang="en-US" altLang="ja-JP" sz="24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algn="l"/>
            <a:r>
              <a:rPr lang="ja-JP" altLang="en-US" sz="240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前渕 竜盛</a:t>
            </a:r>
          </a:p>
          <a:p>
            <a:pPr algn="l"/>
            <a:endParaRPr kumimoji="1" lang="ja-JP" altLang="en-US" sz="2400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90905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9E7-BEFD-D8DA-29A2-D0E296E3F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F54735-D6A9-9CB1-9105-F2B26041D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1106642" cy="582706"/>
          </a:xfrm>
        </p:spPr>
        <p:txBody>
          <a:bodyPr>
            <a:normAutofit fontScale="90000"/>
          </a:bodyPr>
          <a:lstStyle/>
          <a:p>
            <a:r>
              <a:rPr kumimoji="1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目次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6728158-7459-1FC7-9B6E-E440B6F272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05784"/>
            <a:ext cx="4605113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1.</a:t>
            </a:r>
            <a:r>
              <a:rPr kumimoji="0" lang="ja-JP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背景・課題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</a:t>
            </a: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アプリ開発目的</a:t>
            </a:r>
            <a:endParaRPr kumimoji="0" lang="ja-JP" altLang="ja-JP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3.</a:t>
            </a: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</a:t>
            </a:r>
            <a:r>
              <a:rPr lang="ja-JP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アプリ概要</a:t>
            </a:r>
            <a:endParaRPr kumimoji="0" lang="en-US" altLang="ja-JP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使用手順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5.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役割分担</a:t>
            </a:r>
            <a:endParaRPr kumimoji="0" lang="en-US" altLang="ja-JP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6.</a:t>
            </a:r>
            <a:r>
              <a:rPr kumimoji="0" lang="ja-JP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改善点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7</a:t>
            </a: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.</a:t>
            </a:r>
            <a:r>
              <a:rPr kumimoji="0" lang="ja-JP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まとめ</a:t>
            </a:r>
            <a:endParaRPr kumimoji="0" lang="en-US" altLang="ja-JP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8.</a:t>
            </a: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付録</a:t>
            </a:r>
          </a:p>
        </p:txBody>
      </p:sp>
    </p:spTree>
    <p:extLst>
      <p:ext uri="{BB962C8B-B14F-4D97-AF65-F5344CB8AC3E}">
        <p14:creationId xmlns:p14="http://schemas.microsoft.com/office/powerpoint/2010/main" val="219749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69760-BF0A-B859-45CE-7EC83FDC6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D914A8-4BB3-1320-75D1-143BF7DE5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2713139" cy="582706"/>
          </a:xfrm>
        </p:spPr>
        <p:txBody>
          <a:bodyPr>
            <a:normAutofit fontScale="90000"/>
          </a:bodyPr>
          <a:lstStyle/>
          <a:p>
            <a:r>
              <a:rPr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1.</a:t>
            </a:r>
            <a:r>
              <a:rPr kumimoji="0" lang="ja-JP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背景・課題</a:t>
            </a:r>
            <a:endParaRPr kumimoji="1" lang="ja-JP" altLang="en-US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543FD0A-547E-7333-B8A6-B06419CBB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5" y="1192306"/>
            <a:ext cx="846665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背景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3B12C57-DECC-1503-0143-F7E22022B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6762" y="1661888"/>
            <a:ext cx="9443818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リモートワーク普及により、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オンライン交流機会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が増加している。オンラインは対面交流と比べて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情報量が少なく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、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共通の話題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を見つけることが難しい。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5645A40-9ADA-BFBD-B1FD-DDC495CEF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5204029"/>
            <a:ext cx="846665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課題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DD1D4DD4-5422-FC84-95C7-9307D4AA00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5699116"/>
            <a:ext cx="726003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オンラインはオフラインと比べて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関係構築が難しい</a:t>
            </a: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70FAEE9B-1207-8D39-68A7-58C71509A6DC}"/>
              </a:ext>
            </a:extLst>
          </p:cNvPr>
          <p:cNvGrpSpPr/>
          <p:nvPr/>
        </p:nvGrpSpPr>
        <p:grpSpPr>
          <a:xfrm>
            <a:off x="2818614" y="3030141"/>
            <a:ext cx="3725160" cy="2288538"/>
            <a:chOff x="2818614" y="3030141"/>
            <a:chExt cx="3725160" cy="2288538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13A76B6C-6D4B-B0AF-2BB1-12CD45245A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8614" y="3030141"/>
              <a:ext cx="3725160" cy="2288538"/>
            </a:xfrm>
            <a:prstGeom prst="rect">
              <a:avLst/>
            </a:prstGeom>
          </p:spPr>
        </p:pic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92F8871-74AF-5236-9A39-69A219A62121}"/>
                </a:ext>
              </a:extLst>
            </p:cNvPr>
            <p:cNvSpPr/>
            <p:nvPr/>
          </p:nvSpPr>
          <p:spPr>
            <a:xfrm>
              <a:off x="3935517" y="3832197"/>
              <a:ext cx="154946" cy="1023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Noto Sans JP" panose="020B0200000000000000" pitchFamily="50" charset="-128"/>
                <a:ea typeface="Noto Sans JP" panose="020B0200000000000000" pitchFamily="50" charset="-128"/>
              </a:endParaRPr>
            </a:p>
          </p:txBody>
        </p:sp>
        <p:sp>
          <p:nvSpPr>
            <p:cNvPr id="14" name="吹き出し: 円形 13">
              <a:extLst>
                <a:ext uri="{FF2B5EF4-FFF2-40B4-BE49-F238E27FC236}">
                  <a16:creationId xmlns:a16="http://schemas.microsoft.com/office/drawing/2014/main" id="{116893BB-09F7-1C01-5D3F-59AB81B1096E}"/>
                </a:ext>
              </a:extLst>
            </p:cNvPr>
            <p:cNvSpPr/>
            <p:nvPr/>
          </p:nvSpPr>
          <p:spPr>
            <a:xfrm>
              <a:off x="3189840" y="3357305"/>
              <a:ext cx="1419867" cy="531454"/>
            </a:xfrm>
            <a:prstGeom prst="wedgeEllipseCallout">
              <a:avLst>
                <a:gd name="adj1" fmla="val -23560"/>
                <a:gd name="adj2" fmla="val 114636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50" dirty="0">
                  <a:solidFill>
                    <a:schemeClr val="tx1"/>
                  </a:solidFill>
                  <a:latin typeface="Noto Sans JP" panose="020B0200000000000000" pitchFamily="50" charset="-128"/>
                  <a:ea typeface="Noto Sans JP" panose="020B0200000000000000" pitchFamily="50" charset="-128"/>
                </a:rPr>
                <a:t>同じノート持ってます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EFCFC0F4-AE93-7DF5-ACB9-7A5F9A5A88FE}"/>
                </a:ext>
              </a:extLst>
            </p:cNvPr>
            <p:cNvSpPr/>
            <p:nvPr/>
          </p:nvSpPr>
          <p:spPr>
            <a:xfrm>
              <a:off x="3216291" y="3142572"/>
              <a:ext cx="925819" cy="2147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Noto Sans JP" panose="020B0200000000000000" pitchFamily="50" charset="-128"/>
                <a:ea typeface="Noto Sans JP" panose="020B0200000000000000" pitchFamily="50" charset="-128"/>
              </a:endParaRP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7BF364EF-0A5A-32B4-65B8-52F054E03740}"/>
                </a:ext>
              </a:extLst>
            </p:cNvPr>
            <p:cNvSpPr/>
            <p:nvPr/>
          </p:nvSpPr>
          <p:spPr>
            <a:xfrm>
              <a:off x="5231543" y="3142572"/>
              <a:ext cx="925819" cy="2147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latin typeface="Noto Sans JP" panose="020B0200000000000000" pitchFamily="50" charset="-128"/>
                <a:ea typeface="Noto Sans JP" panose="020B0200000000000000" pitchFamily="50" charset="-128"/>
              </a:endParaRPr>
            </a:p>
          </p:txBody>
        </p:sp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B69600D-60A5-2ECE-7B52-BEB82E662F2B}"/>
              </a:ext>
            </a:extLst>
          </p:cNvPr>
          <p:cNvSpPr/>
          <p:nvPr/>
        </p:nvSpPr>
        <p:spPr>
          <a:xfrm>
            <a:off x="5123644" y="3030141"/>
            <a:ext cx="972356" cy="2003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オンライン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D993BD1-539C-163A-F79A-288D4B17FF66}"/>
              </a:ext>
            </a:extLst>
          </p:cNvPr>
          <p:cNvSpPr/>
          <p:nvPr/>
        </p:nvSpPr>
        <p:spPr>
          <a:xfrm>
            <a:off x="3297380" y="3030141"/>
            <a:ext cx="972356" cy="20032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オフライン</a:t>
            </a:r>
          </a:p>
        </p:txBody>
      </p:sp>
    </p:spTree>
    <p:extLst>
      <p:ext uri="{BB962C8B-B14F-4D97-AF65-F5344CB8AC3E}">
        <p14:creationId xmlns:p14="http://schemas.microsoft.com/office/powerpoint/2010/main" val="1394155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ECA55-3286-A566-62FC-362E74350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5EA5C3-F4D5-5158-BF48-2666C7839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493975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アプリ開発目的</a:t>
            </a:r>
            <a:endParaRPr kumimoji="0" lang="ja-JP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B33A7F3A-DD56-6710-637C-4E6D1FA61A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5" y="1192306"/>
            <a:ext cx="846665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目的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7CAAE83-E601-B9A2-EDFB-1F0CD79D5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775012"/>
            <a:ext cx="944381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本アプリは、初対面の人との関係構築を支援することを目的とする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A795767D-CAF5-6BA9-D8F7-B0737EB7E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073" y="3309078"/>
            <a:ext cx="2343477" cy="2362530"/>
          </a:xfrm>
          <a:prstGeom prst="rect">
            <a:avLst/>
          </a:prstGeom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C6A3406-50E4-28B1-06EF-029079D852A1}"/>
              </a:ext>
            </a:extLst>
          </p:cNvPr>
          <p:cNvSpPr/>
          <p:nvPr/>
        </p:nvSpPr>
        <p:spPr>
          <a:xfrm>
            <a:off x="4266633" y="3030141"/>
            <a:ext cx="972356" cy="20032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オンライン</a:t>
            </a:r>
          </a:p>
        </p:txBody>
      </p:sp>
    </p:spTree>
    <p:extLst>
      <p:ext uri="{BB962C8B-B14F-4D97-AF65-F5344CB8AC3E}">
        <p14:creationId xmlns:p14="http://schemas.microsoft.com/office/powerpoint/2010/main" val="3130721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46361-94E1-EC7C-526F-FC282741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8242AF-99E1-BEE5-2102-0F83A9CC2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119169" cy="582706"/>
          </a:xfrm>
        </p:spPr>
        <p:txBody>
          <a:bodyPr>
            <a:normAutofit fontScale="90000"/>
          </a:bodyPr>
          <a:lstStyle/>
          <a:p>
            <a:pPr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3.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</a:t>
            </a:r>
            <a:r>
              <a:rPr lang="ja-JP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アプリの概要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294103-359D-AEA3-E107-30287E52B9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192306"/>
            <a:ext cx="3177492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利用者（ユーザー）</a:t>
            </a:r>
            <a:endParaRPr lang="ja-JP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02EA920-2AB1-A728-007E-19176B8B9A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1757082"/>
            <a:ext cx="696059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初対面同士が集まるオンラインイベントの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endParaRPr kumimoji="0" lang="ja-JP" altLang="en-US" sz="24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00CA6B33-9558-311D-25BD-AD54D3513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2236677"/>
            <a:ext cx="402913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グループあたりの利用人数</a:t>
            </a:r>
            <a:endParaRPr lang="ja-JP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02F67DEA-505D-8DAD-FB2E-C3E565EF04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2783523"/>
            <a:ext cx="147419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～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人</a:t>
            </a:r>
            <a:endParaRPr kumimoji="0" lang="ja-JP" altLang="en-US" sz="2400" i="0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4E6FC1D6-9DBA-77B4-074D-6D26003814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3348299"/>
            <a:ext cx="3177492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利用シーン</a:t>
            </a:r>
            <a:endParaRPr lang="ja-JP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3DDA3D8B-43E6-3B7B-BA5C-9467DBFDAC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3895145"/>
            <a:ext cx="809911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オンラインイベント開始後の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アイスブレイク</a:t>
            </a:r>
            <a:endParaRPr kumimoji="0" lang="ja-JP" altLang="en-US" sz="2400" b="1" i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212953-27A2-FB97-A393-A8F80DB46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502" y="4895611"/>
            <a:ext cx="2876467" cy="1495762"/>
          </a:xfrm>
          <a:prstGeom prst="rect">
            <a:avLst/>
          </a:prstGeom>
        </p:spPr>
      </p:pic>
      <p:sp>
        <p:nvSpPr>
          <p:cNvPr id="12" name="吹き出し: 円形 11">
            <a:extLst>
              <a:ext uri="{FF2B5EF4-FFF2-40B4-BE49-F238E27FC236}">
                <a16:creationId xmlns:a16="http://schemas.microsoft.com/office/drawing/2014/main" id="{DF403BAC-100B-B29C-16B6-2270AB88A32A}"/>
              </a:ext>
            </a:extLst>
          </p:cNvPr>
          <p:cNvSpPr/>
          <p:nvPr/>
        </p:nvSpPr>
        <p:spPr>
          <a:xfrm>
            <a:off x="6710902" y="4882416"/>
            <a:ext cx="1032923" cy="531454"/>
          </a:xfrm>
          <a:prstGeom prst="wedgeEllipseCallout">
            <a:avLst>
              <a:gd name="adj1" fmla="val -61661"/>
              <a:gd name="adj2" fmla="val 7162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はじめまして</a:t>
            </a: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940CBD5B-029D-FA0A-07C1-CFC5E91810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3876" y="4385385"/>
            <a:ext cx="148116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アイスブレイク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9213F3A0-966B-84DA-A852-1F181B5C6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891" y="4900641"/>
            <a:ext cx="3025989" cy="1530105"/>
          </a:xfrm>
          <a:prstGeom prst="rect">
            <a:avLst/>
          </a:prstGeom>
        </p:spPr>
      </p:pic>
      <p:sp>
        <p:nvSpPr>
          <p:cNvPr id="19" name="吹き出し: 円形 18">
            <a:extLst>
              <a:ext uri="{FF2B5EF4-FFF2-40B4-BE49-F238E27FC236}">
                <a16:creationId xmlns:a16="http://schemas.microsoft.com/office/drawing/2014/main" id="{90333DF0-62EF-79D9-54ED-6C3F51D534C7}"/>
              </a:ext>
            </a:extLst>
          </p:cNvPr>
          <p:cNvSpPr/>
          <p:nvPr/>
        </p:nvSpPr>
        <p:spPr>
          <a:xfrm>
            <a:off x="1662285" y="4655859"/>
            <a:ext cx="2237078" cy="531454"/>
          </a:xfrm>
          <a:prstGeom prst="wedgeEllipseCallout">
            <a:avLst>
              <a:gd name="adj1" fmla="val 13315"/>
              <a:gd name="adj2" fmla="val 7341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グループになって自己紹介をしてください</a:t>
            </a:r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7B73971E-E56F-4507-0E6C-5F1A3715EF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6078" y="4385385"/>
            <a:ext cx="2016802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オンラインイベント開始後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3318B482-3321-812A-9261-0B136607346F}"/>
              </a:ext>
            </a:extLst>
          </p:cNvPr>
          <p:cNvSpPr/>
          <p:nvPr/>
        </p:nvSpPr>
        <p:spPr>
          <a:xfrm>
            <a:off x="4437529" y="5413870"/>
            <a:ext cx="1220321" cy="619338"/>
          </a:xfrm>
          <a:prstGeom prst="rightArrow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23698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D5674-CD10-3E48-3F24-3548D7FD4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6FE582-5C2B-B4B4-1FE8-B3E111A10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579629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5040E65-9825-D846-97CC-F6F782D895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92307"/>
            <a:ext cx="577109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参加者人数入力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2BA1E2B-36C5-6552-28FD-85AB6507C4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1" y="1775012"/>
            <a:ext cx="6946094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主催者が参加者人数を入力してアプリを開始する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FDA850-F2EA-DACC-007F-09AF9022D0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59" y="6488526"/>
            <a:ext cx="148116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参加人数入力画面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A59237B9-5C72-EA1A-1651-4E16FB791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59044" y="4052156"/>
            <a:ext cx="97309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参加人数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B7FD7F17-4B4D-5DD3-ADA2-E766EC0014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289" y="4061160"/>
            <a:ext cx="1120434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5AF0142-BEAB-B61E-5F33-947B3CC4B0E0}"/>
              </a:ext>
            </a:extLst>
          </p:cNvPr>
          <p:cNvSpPr/>
          <p:nvPr/>
        </p:nvSpPr>
        <p:spPr>
          <a:xfrm>
            <a:off x="3307976" y="2236677"/>
            <a:ext cx="2501153" cy="4168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4B2B0C5A-39A9-2397-F53D-E18AAAB09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3509" y="4789879"/>
            <a:ext cx="2350085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共通点発見アプリを開始します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4617D976-73E2-3DFA-BA5C-4AE2C87635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0287" y="2528846"/>
            <a:ext cx="1455436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E765F724-DFDE-A937-A73A-177333363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861" y="2862335"/>
            <a:ext cx="1024164" cy="1032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77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F9FC1-C0FE-F6B0-09A4-697C2D653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28B1F2-4B80-1DBD-43FF-B8CA9B461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418667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CDCE61B-872C-FF44-B9B9-E497FD4CB2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92307"/>
            <a:ext cx="5771091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2.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ニックネームを入力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7404791-CCE8-2313-2EF9-5B8AFF19E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1" y="1590346"/>
            <a:ext cx="9314394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ニックネーム入力画面にて参加者が、各々の端末にてニックネームを入力する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9CE2F6A3-63AC-8D03-C3B9-B1683DE709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8202" y="3487633"/>
            <a:ext cx="2229487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ニックネームを入れて下さい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214DD4-7FCA-9BF8-679F-967DB20084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9165" y="6488526"/>
            <a:ext cx="183852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ニックネーム入力画面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A57CAAD-1F41-DDDC-C4CF-CAB00532FA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4855" y="4023522"/>
            <a:ext cx="112043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ニックネーム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9DEE70DA-14C5-AD9D-5586-6DECA7A4F0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289" y="4061160"/>
            <a:ext cx="1120434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DFBF000-10AB-1C5E-4A9A-93776D311A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9226" y="5407744"/>
            <a:ext cx="878542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  <a:cs typeface="Arial" panose="020B0604020202020204" pitchFamily="34" charset="0"/>
              </a:rPr>
              <a:t>入力完了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EC3C17EF-C03C-32BB-89D8-53E6BD258CAF}"/>
              </a:ext>
            </a:extLst>
          </p:cNvPr>
          <p:cNvSpPr/>
          <p:nvPr/>
        </p:nvSpPr>
        <p:spPr>
          <a:xfrm>
            <a:off x="2876764" y="2236677"/>
            <a:ext cx="2932365" cy="4168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741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76D5E-76F0-7A5B-1373-042263D74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D9FE45-EDE6-7151-78F3-DB5F19FA9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5131796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58D5C12-8DB9-81BA-0929-0DE05F0A8B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92307"/>
            <a:ext cx="4835959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質問回答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9F442AA-8119-EFA0-3E97-DFC24BFF8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775012"/>
            <a:ext cx="814816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回答送信画面により主催者は各々の端末で質問を回答する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CF1BD63-F004-8BD9-A01D-62F326A9CEC0}"/>
              </a:ext>
            </a:extLst>
          </p:cNvPr>
          <p:cNvSpPr/>
          <p:nvPr/>
        </p:nvSpPr>
        <p:spPr>
          <a:xfrm>
            <a:off x="3307976" y="2236677"/>
            <a:ext cx="2501153" cy="4168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95E6C037-5F6A-D5C5-4543-58A9DFB43C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7976" y="2308395"/>
            <a:ext cx="238859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質問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1.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今日は運動しましたか？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0D7DD45B-F948-13FF-D48A-843AD8FC4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164" y="2585394"/>
            <a:ext cx="56009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はい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2" name="Rectangle 2">
            <a:extLst>
              <a:ext uri="{FF2B5EF4-FFF2-40B4-BE49-F238E27FC236}">
                <a16:creationId xmlns:a16="http://schemas.microsoft.com/office/drawing/2014/main" id="{84BD69D8-F33F-00D7-22AE-287FD235B5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07976" y="4422287"/>
            <a:ext cx="2501153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質問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10.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今日は外に出ましたか？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6" name="Rectangle 2">
            <a:extLst>
              <a:ext uri="{FF2B5EF4-FFF2-40B4-BE49-F238E27FC236}">
                <a16:creationId xmlns:a16="http://schemas.microsoft.com/office/drawing/2014/main" id="{59AEB66F-8301-4C02-6ECD-E268A85A4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040" y="3273488"/>
            <a:ext cx="1008033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1D5483FE-F087-6303-20FA-0A1011D571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786" y="6027387"/>
            <a:ext cx="815788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回答送信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B1739CAA-CF79-5C11-4830-DA3904EAB7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019" y="2657112"/>
            <a:ext cx="192853" cy="166182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ECC6CE9D-ED05-076A-A45C-9E65857A6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019" y="2964439"/>
            <a:ext cx="192853" cy="166182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9D0446E6-9F00-35FC-8534-87B90FD2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019" y="4763186"/>
            <a:ext cx="192853" cy="166182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A5A9707-3DCF-AE9A-4E5D-C9C7985CA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019" y="5065216"/>
            <a:ext cx="192853" cy="166182"/>
          </a:xfrm>
          <a:prstGeom prst="rect">
            <a:avLst/>
          </a:prstGeom>
        </p:spPr>
      </p:pic>
      <p:sp>
        <p:nvSpPr>
          <p:cNvPr id="41" name="Rectangle 2">
            <a:extLst>
              <a:ext uri="{FF2B5EF4-FFF2-40B4-BE49-F238E27FC236}">
                <a16:creationId xmlns:a16="http://schemas.microsoft.com/office/drawing/2014/main" id="{372903F4-1853-EF49-0167-0E87455FD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7967" y="6464890"/>
            <a:ext cx="148116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回答画面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C66EE5EE-114C-7121-807B-18BC04B89D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6525" y="2917278"/>
            <a:ext cx="69587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いいえ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2D764486-6B52-16FA-0BAD-548FBD161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1872" y="4727011"/>
            <a:ext cx="56009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はい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4D37563E-CB69-9BA9-BDAB-E12E9D9F24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54233" y="5058895"/>
            <a:ext cx="69587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いいえ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1341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BE34E-2347-2F45-BE52-0349758D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43B3D2-E68F-F29B-ECE4-75699171C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284321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8" name="グラフィックス 7" descr="ユーザー">
            <a:extLst>
              <a:ext uri="{FF2B5EF4-FFF2-40B4-BE49-F238E27FC236}">
                <a16:creationId xmlns:a16="http://schemas.microsoft.com/office/drawing/2014/main" id="{82997090-AF63-2237-4865-04ED17B770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3214" y="3377754"/>
            <a:ext cx="519956" cy="519956"/>
          </a:xfrm>
          <a:prstGeom prst="rect">
            <a:avLst/>
          </a:prstGeom>
        </p:spPr>
      </p:pic>
      <p:sp>
        <p:nvSpPr>
          <p:cNvPr id="9" name="Rectangle 2">
            <a:extLst>
              <a:ext uri="{FF2B5EF4-FFF2-40B4-BE49-F238E27FC236}">
                <a16:creationId xmlns:a16="http://schemas.microsoft.com/office/drawing/2014/main" id="{8379F2D7-A1D6-8D3A-A8E0-7AF342E63D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9295" y="3897710"/>
            <a:ext cx="68779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主催者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87CADEE7-69BE-4956-6DF4-7DD028807C6E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flipH="1">
            <a:off x="1079719" y="4174709"/>
            <a:ext cx="1533473" cy="679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B158C9FE-4175-9567-5713-90AFFCFB34DE}"/>
              </a:ext>
            </a:extLst>
          </p:cNvPr>
          <p:cNvCxnSpPr>
            <a:cxnSpLocks/>
            <a:stCxn id="9" idx="2"/>
            <a:endCxn id="23" idx="0"/>
          </p:cNvCxnSpPr>
          <p:nvPr/>
        </p:nvCxnSpPr>
        <p:spPr>
          <a:xfrm>
            <a:off x="2613192" y="4174709"/>
            <a:ext cx="0" cy="6796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818C205-1A39-2FF3-1DFD-5C9B9C6F504B}"/>
              </a:ext>
            </a:extLst>
          </p:cNvPr>
          <p:cNvCxnSpPr>
            <a:cxnSpLocks/>
            <a:stCxn id="9" idx="2"/>
            <a:endCxn id="128" idx="0"/>
          </p:cNvCxnSpPr>
          <p:nvPr/>
        </p:nvCxnSpPr>
        <p:spPr>
          <a:xfrm>
            <a:off x="2613192" y="4174709"/>
            <a:ext cx="1899714" cy="694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2">
            <a:extLst>
              <a:ext uri="{FF2B5EF4-FFF2-40B4-BE49-F238E27FC236}">
                <a16:creationId xmlns:a16="http://schemas.microsoft.com/office/drawing/2014/main" id="{658F1862-93AE-E8B2-BF80-7DD99FBF8A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695" y="6248400"/>
            <a:ext cx="92012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A</a:t>
            </a:r>
          </a:p>
        </p:txBody>
      </p:sp>
      <p:sp>
        <p:nvSpPr>
          <p:cNvPr id="47" name="Rectangle 2">
            <a:extLst>
              <a:ext uri="{FF2B5EF4-FFF2-40B4-BE49-F238E27FC236}">
                <a16:creationId xmlns:a16="http://schemas.microsoft.com/office/drawing/2014/main" id="{17F61C0F-A5FA-3B78-D108-6F2950B80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1376" y="6248400"/>
            <a:ext cx="92012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C</a:t>
            </a:r>
          </a:p>
        </p:txBody>
      </p:sp>
      <p:pic>
        <p:nvPicPr>
          <p:cNvPr id="10" name="グラフィックス 9" descr="ユーザー">
            <a:extLst>
              <a:ext uri="{FF2B5EF4-FFF2-40B4-BE49-F238E27FC236}">
                <a16:creationId xmlns:a16="http://schemas.microsoft.com/office/drawing/2014/main" id="{01D0C2A1-0EAF-8321-0882-40EA45664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1885" y="5414029"/>
            <a:ext cx="519956" cy="519956"/>
          </a:xfrm>
          <a:prstGeom prst="rect">
            <a:avLst/>
          </a:prstGeom>
        </p:spPr>
      </p:pic>
      <p:sp>
        <p:nvSpPr>
          <p:cNvPr id="11" name="Rectangle 2">
            <a:extLst>
              <a:ext uri="{FF2B5EF4-FFF2-40B4-BE49-F238E27FC236}">
                <a16:creationId xmlns:a16="http://schemas.microsoft.com/office/drawing/2014/main" id="{63DCC070-7696-FDF3-08E8-3E72D5F8CD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1976" y="5898130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</a:t>
            </a:r>
          </a:p>
        </p:txBody>
      </p:sp>
      <p:pic>
        <p:nvPicPr>
          <p:cNvPr id="12" name="グラフィックス 11" descr="ユーザー">
            <a:extLst>
              <a:ext uri="{FF2B5EF4-FFF2-40B4-BE49-F238E27FC236}">
                <a16:creationId xmlns:a16="http://schemas.microsoft.com/office/drawing/2014/main" id="{675A5BDD-2BA1-D104-3FBD-F2B4F9B01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760" y="5414029"/>
            <a:ext cx="519956" cy="519956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923C1CB-68EA-C8C7-1155-1CE33F7792E6}"/>
              </a:ext>
            </a:extLst>
          </p:cNvPr>
          <p:cNvSpPr/>
          <p:nvPr/>
        </p:nvSpPr>
        <p:spPr>
          <a:xfrm>
            <a:off x="359783" y="4854397"/>
            <a:ext cx="1439872" cy="139850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49" name="グラフィックス 48" descr="インターネット">
            <a:extLst>
              <a:ext uri="{FF2B5EF4-FFF2-40B4-BE49-F238E27FC236}">
                <a16:creationId xmlns:a16="http://schemas.microsoft.com/office/drawing/2014/main" id="{4863F91F-04EC-BE3F-94D5-DA47A93FD45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7466" y="4975642"/>
            <a:ext cx="516155" cy="516155"/>
          </a:xfrm>
          <a:prstGeom prst="rect">
            <a:avLst/>
          </a:prstGeom>
        </p:spPr>
      </p:pic>
      <p:pic>
        <p:nvPicPr>
          <p:cNvPr id="73" name="グラフィックス 72" descr="インターネット">
            <a:extLst>
              <a:ext uri="{FF2B5EF4-FFF2-40B4-BE49-F238E27FC236}">
                <a16:creationId xmlns:a16="http://schemas.microsoft.com/office/drawing/2014/main" id="{24683C6A-AF79-9B04-4822-14C0DCFBF9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9958" y="4975642"/>
            <a:ext cx="516155" cy="516155"/>
          </a:xfrm>
          <a:prstGeom prst="rect">
            <a:avLst/>
          </a:prstGeom>
        </p:spPr>
      </p:pic>
      <p:sp>
        <p:nvSpPr>
          <p:cNvPr id="113" name="Rectangle 2">
            <a:extLst>
              <a:ext uri="{FF2B5EF4-FFF2-40B4-BE49-F238E27FC236}">
                <a16:creationId xmlns:a16="http://schemas.microsoft.com/office/drawing/2014/main" id="{09D60977-7B49-BA2E-4E56-A32DF2F68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3670" y="5898130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2</a:t>
            </a:r>
          </a:p>
        </p:txBody>
      </p:sp>
      <p:pic>
        <p:nvPicPr>
          <p:cNvPr id="124" name="グラフィックス 123" descr="ユーザー">
            <a:extLst>
              <a:ext uri="{FF2B5EF4-FFF2-40B4-BE49-F238E27FC236}">
                <a16:creationId xmlns:a16="http://schemas.microsoft.com/office/drawing/2014/main" id="{FF0307CF-38A6-46E3-C20C-45071E251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88293" y="5409531"/>
            <a:ext cx="519956" cy="519956"/>
          </a:xfrm>
          <a:prstGeom prst="rect">
            <a:avLst/>
          </a:prstGeom>
        </p:spPr>
      </p:pic>
      <p:sp>
        <p:nvSpPr>
          <p:cNvPr id="125" name="Rectangle 2">
            <a:extLst>
              <a:ext uri="{FF2B5EF4-FFF2-40B4-BE49-F238E27FC236}">
                <a16:creationId xmlns:a16="http://schemas.microsoft.com/office/drawing/2014/main" id="{943E3114-264D-D85F-6411-94546BBB90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8384" y="5893632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5</a:t>
            </a:r>
          </a:p>
        </p:txBody>
      </p:sp>
      <p:pic>
        <p:nvPicPr>
          <p:cNvPr id="126" name="グラフィックス 125" descr="ユーザー">
            <a:extLst>
              <a:ext uri="{FF2B5EF4-FFF2-40B4-BE49-F238E27FC236}">
                <a16:creationId xmlns:a16="http://schemas.microsoft.com/office/drawing/2014/main" id="{BF39F805-2086-A441-949A-B934C1AAC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2168" y="5409531"/>
            <a:ext cx="519956" cy="519956"/>
          </a:xfrm>
          <a:prstGeom prst="rect">
            <a:avLst/>
          </a:prstGeom>
        </p:spPr>
      </p:pic>
      <p:pic>
        <p:nvPicPr>
          <p:cNvPr id="127" name="グラフィックス 126" descr="ユーザー">
            <a:extLst>
              <a:ext uri="{FF2B5EF4-FFF2-40B4-BE49-F238E27FC236}">
                <a16:creationId xmlns:a16="http://schemas.microsoft.com/office/drawing/2014/main" id="{87D698AD-F630-11DF-1949-F619E4404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79962" y="5409531"/>
            <a:ext cx="519956" cy="519956"/>
          </a:xfrm>
          <a:prstGeom prst="rect">
            <a:avLst/>
          </a:prstGeom>
        </p:spPr>
      </p:pic>
      <p:sp>
        <p:nvSpPr>
          <p:cNvPr id="128" name="正方形/長方形 127">
            <a:extLst>
              <a:ext uri="{FF2B5EF4-FFF2-40B4-BE49-F238E27FC236}">
                <a16:creationId xmlns:a16="http://schemas.microsoft.com/office/drawing/2014/main" id="{E13DD9A9-39CE-1499-132F-08E4BEB9780B}"/>
              </a:ext>
            </a:extLst>
          </p:cNvPr>
          <p:cNvSpPr/>
          <p:nvPr/>
        </p:nvSpPr>
        <p:spPr>
          <a:xfrm>
            <a:off x="3420455" y="4868949"/>
            <a:ext cx="2184902" cy="139850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129" name="グラフィックス 128" descr="インターネット">
            <a:extLst>
              <a:ext uri="{FF2B5EF4-FFF2-40B4-BE49-F238E27FC236}">
                <a16:creationId xmlns:a16="http://schemas.microsoft.com/office/drawing/2014/main" id="{885D5CE4-F64B-19AE-D316-E5AAEE5EAA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03874" y="4971144"/>
            <a:ext cx="516155" cy="516155"/>
          </a:xfrm>
          <a:prstGeom prst="rect">
            <a:avLst/>
          </a:prstGeom>
        </p:spPr>
      </p:pic>
      <p:pic>
        <p:nvPicPr>
          <p:cNvPr id="130" name="グラフィックス 129" descr="インターネット">
            <a:extLst>
              <a:ext uri="{FF2B5EF4-FFF2-40B4-BE49-F238E27FC236}">
                <a16:creationId xmlns:a16="http://schemas.microsoft.com/office/drawing/2014/main" id="{9E17C5B5-0C68-6F10-D6CE-B608D5A09C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6366" y="4971144"/>
            <a:ext cx="516155" cy="516155"/>
          </a:xfrm>
          <a:prstGeom prst="rect">
            <a:avLst/>
          </a:prstGeom>
        </p:spPr>
      </p:pic>
      <p:pic>
        <p:nvPicPr>
          <p:cNvPr id="131" name="グラフィックス 130" descr="インターネット">
            <a:extLst>
              <a:ext uri="{FF2B5EF4-FFF2-40B4-BE49-F238E27FC236}">
                <a16:creationId xmlns:a16="http://schemas.microsoft.com/office/drawing/2014/main" id="{A2625C6C-DDA3-FE4F-42C1-87FCE76E38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76977" y="4971144"/>
            <a:ext cx="516155" cy="516155"/>
          </a:xfrm>
          <a:prstGeom prst="rect">
            <a:avLst/>
          </a:prstGeom>
        </p:spPr>
      </p:pic>
      <p:sp>
        <p:nvSpPr>
          <p:cNvPr id="132" name="Rectangle 2">
            <a:extLst>
              <a:ext uri="{FF2B5EF4-FFF2-40B4-BE49-F238E27FC236}">
                <a16:creationId xmlns:a16="http://schemas.microsoft.com/office/drawing/2014/main" id="{7BC499DE-575E-BADE-3225-C85789E5F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86361" y="5893632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7</a:t>
            </a:r>
          </a:p>
        </p:txBody>
      </p:sp>
      <p:sp>
        <p:nvSpPr>
          <p:cNvPr id="133" name="Rectangle 2">
            <a:extLst>
              <a:ext uri="{FF2B5EF4-FFF2-40B4-BE49-F238E27FC236}">
                <a16:creationId xmlns:a16="http://schemas.microsoft.com/office/drawing/2014/main" id="{172AFED5-4CC7-1C50-99B5-C29C437FBC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0078" y="5893632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A64648D0-9393-D599-0EAA-B8A4B93FDC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5" y="1192307"/>
            <a:ext cx="5418665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グループ割振り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33CAFB77-C428-08A2-0009-C4E572D28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775012"/>
            <a:ext cx="944381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主催者はグループ割振り画面で、参加者のグループを割り振る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9" name="Rectangle 2">
            <a:extLst>
              <a:ext uri="{FF2B5EF4-FFF2-40B4-BE49-F238E27FC236}">
                <a16:creationId xmlns:a16="http://schemas.microsoft.com/office/drawing/2014/main" id="{FD220485-0B66-58C5-48E6-CA3EAAF8C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168" y="6248400"/>
            <a:ext cx="92012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B</a:t>
            </a:r>
          </a:p>
        </p:txBody>
      </p:sp>
      <p:pic>
        <p:nvPicPr>
          <p:cNvPr id="20" name="グラフィックス 19" descr="ユーザー">
            <a:extLst>
              <a:ext uri="{FF2B5EF4-FFF2-40B4-BE49-F238E27FC236}">
                <a16:creationId xmlns:a16="http://schemas.microsoft.com/office/drawing/2014/main" id="{FCA400CC-562B-749D-1816-79DD570D26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85358" y="5414029"/>
            <a:ext cx="519956" cy="519956"/>
          </a:xfrm>
          <a:prstGeom prst="rect">
            <a:avLst/>
          </a:prstGeom>
        </p:spPr>
      </p:pic>
      <p:sp>
        <p:nvSpPr>
          <p:cNvPr id="21" name="Rectangle 2">
            <a:extLst>
              <a:ext uri="{FF2B5EF4-FFF2-40B4-BE49-F238E27FC236}">
                <a16:creationId xmlns:a16="http://schemas.microsoft.com/office/drawing/2014/main" id="{D3EC851F-1732-9AAD-E857-4E1873797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5449" y="5898130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3</a:t>
            </a:r>
          </a:p>
        </p:txBody>
      </p:sp>
      <p:pic>
        <p:nvPicPr>
          <p:cNvPr id="22" name="グラフィックス 21" descr="ユーザー">
            <a:extLst>
              <a:ext uri="{FF2B5EF4-FFF2-40B4-BE49-F238E27FC236}">
                <a16:creationId xmlns:a16="http://schemas.microsoft.com/office/drawing/2014/main" id="{A9E70786-0589-CFE9-ACBF-1AAB002B7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9233" y="5414029"/>
            <a:ext cx="519956" cy="519956"/>
          </a:xfrm>
          <a:prstGeom prst="rect">
            <a:avLst/>
          </a:prstGeom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7941C8A-802A-4D0E-4B0A-24E2CEB1D772}"/>
              </a:ext>
            </a:extLst>
          </p:cNvPr>
          <p:cNvSpPr/>
          <p:nvPr/>
        </p:nvSpPr>
        <p:spPr>
          <a:xfrm>
            <a:off x="1893256" y="4854397"/>
            <a:ext cx="1439872" cy="139850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24" name="グラフィックス 23" descr="インターネット">
            <a:extLst>
              <a:ext uri="{FF2B5EF4-FFF2-40B4-BE49-F238E27FC236}">
                <a16:creationId xmlns:a16="http://schemas.microsoft.com/office/drawing/2014/main" id="{DB960620-A05C-E94D-3227-E79BB0728D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00939" y="4975642"/>
            <a:ext cx="516155" cy="516155"/>
          </a:xfrm>
          <a:prstGeom prst="rect">
            <a:avLst/>
          </a:prstGeom>
        </p:spPr>
      </p:pic>
      <p:pic>
        <p:nvPicPr>
          <p:cNvPr id="25" name="グラフィックス 24" descr="インターネット">
            <a:extLst>
              <a:ext uri="{FF2B5EF4-FFF2-40B4-BE49-F238E27FC236}">
                <a16:creationId xmlns:a16="http://schemas.microsoft.com/office/drawing/2014/main" id="{ECEBA050-957A-647B-73F1-7D8AA6B30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43431" y="4975642"/>
            <a:ext cx="516155" cy="516155"/>
          </a:xfrm>
          <a:prstGeom prst="rect">
            <a:avLst/>
          </a:prstGeom>
        </p:spPr>
      </p:pic>
      <p:sp>
        <p:nvSpPr>
          <p:cNvPr id="26" name="Rectangle 2">
            <a:extLst>
              <a:ext uri="{FF2B5EF4-FFF2-40B4-BE49-F238E27FC236}">
                <a16:creationId xmlns:a16="http://schemas.microsoft.com/office/drawing/2014/main" id="{A405E410-BE97-5847-63CB-6084437729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7143" y="5898130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4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5C446B8E-EF6B-3353-88D6-0A10EF425194}"/>
              </a:ext>
            </a:extLst>
          </p:cNvPr>
          <p:cNvSpPr/>
          <p:nvPr/>
        </p:nvSpPr>
        <p:spPr>
          <a:xfrm>
            <a:off x="6096000" y="2236677"/>
            <a:ext cx="2501153" cy="4168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3" name="Rectangle 2">
            <a:extLst>
              <a:ext uri="{FF2B5EF4-FFF2-40B4-BE49-F238E27FC236}">
                <a16:creationId xmlns:a16="http://schemas.microsoft.com/office/drawing/2014/main" id="{4640CD7B-F837-9689-846F-48AF376094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5991" y="6464890"/>
            <a:ext cx="178310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グループ割振り画面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C8016C7D-428C-8260-31D3-C4F53A7B0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04050" y="4080175"/>
            <a:ext cx="2085049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グループを割振る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5" name="Rectangle 2">
            <a:extLst>
              <a:ext uri="{FF2B5EF4-FFF2-40B4-BE49-F238E27FC236}">
                <a16:creationId xmlns:a16="http://schemas.microsoft.com/office/drawing/2014/main" id="{E20FDB67-ECE0-CA8C-FE79-4B3B385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415372"/>
            <a:ext cx="2421276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現在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10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人入力完了しています。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（１００人中）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0628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B6FC3-B502-51E1-1ADF-1B69A161D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2DFAD3-50EF-9098-1B56-0A10E4212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418667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58F66A6-FB25-2803-2785-810CC64760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92307"/>
            <a:ext cx="5019239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5.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共通度表示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AD479DF-5EBE-BB2B-DDF6-B53018C3C3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1775012"/>
            <a:ext cx="9072843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共通度一覧画面によりグループメンバー同士の共通度を確認する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93C3573A-3737-DEB1-4D3D-0B7CB8AB74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3909" y="5285854"/>
            <a:ext cx="92012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グループ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C</a:t>
            </a:r>
          </a:p>
        </p:txBody>
      </p:sp>
      <p:pic>
        <p:nvPicPr>
          <p:cNvPr id="28" name="グラフィックス 27" descr="ユーザー">
            <a:extLst>
              <a:ext uri="{FF2B5EF4-FFF2-40B4-BE49-F238E27FC236}">
                <a16:creationId xmlns:a16="http://schemas.microsoft.com/office/drawing/2014/main" id="{4141091D-A007-B788-D1B2-2C9BCBC26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1465" y="4423408"/>
            <a:ext cx="519956" cy="519956"/>
          </a:xfrm>
          <a:prstGeom prst="rect">
            <a:avLst/>
          </a:prstGeom>
        </p:spPr>
      </p:pic>
      <p:sp>
        <p:nvSpPr>
          <p:cNvPr id="29" name="Rectangle 2">
            <a:extLst>
              <a:ext uri="{FF2B5EF4-FFF2-40B4-BE49-F238E27FC236}">
                <a16:creationId xmlns:a16="http://schemas.microsoft.com/office/drawing/2014/main" id="{1AC2E30F-783A-5294-FE2F-76A27C710B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1556" y="4907509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5</a:t>
            </a:r>
          </a:p>
        </p:txBody>
      </p:sp>
      <p:pic>
        <p:nvPicPr>
          <p:cNvPr id="30" name="グラフィックス 29" descr="ユーザー">
            <a:extLst>
              <a:ext uri="{FF2B5EF4-FFF2-40B4-BE49-F238E27FC236}">
                <a16:creationId xmlns:a16="http://schemas.microsoft.com/office/drawing/2014/main" id="{BAC2B9B2-9DE7-34F8-0821-594D8E461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15340" y="4423408"/>
            <a:ext cx="519956" cy="519956"/>
          </a:xfrm>
          <a:prstGeom prst="rect">
            <a:avLst/>
          </a:prstGeom>
        </p:spPr>
      </p:pic>
      <p:pic>
        <p:nvPicPr>
          <p:cNvPr id="32" name="グラフィックス 31" descr="ユーザー">
            <a:extLst>
              <a:ext uri="{FF2B5EF4-FFF2-40B4-BE49-F238E27FC236}">
                <a16:creationId xmlns:a16="http://schemas.microsoft.com/office/drawing/2014/main" id="{BEE8349F-8E85-6654-C70A-9E324FD522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3134" y="4423408"/>
            <a:ext cx="519956" cy="519956"/>
          </a:xfrm>
          <a:prstGeom prst="rect">
            <a:avLst/>
          </a:prstGeom>
        </p:spPr>
      </p:pic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A5B44715-9670-6DEE-97D5-3FC7132620F6}"/>
              </a:ext>
            </a:extLst>
          </p:cNvPr>
          <p:cNvSpPr/>
          <p:nvPr/>
        </p:nvSpPr>
        <p:spPr>
          <a:xfrm>
            <a:off x="1143627" y="3863776"/>
            <a:ext cx="2184902" cy="139850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pic>
        <p:nvPicPr>
          <p:cNvPr id="37" name="グラフィックス 36" descr="インターネット">
            <a:extLst>
              <a:ext uri="{FF2B5EF4-FFF2-40B4-BE49-F238E27FC236}">
                <a16:creationId xmlns:a16="http://schemas.microsoft.com/office/drawing/2014/main" id="{4AA6423E-6F9E-495A-3F24-4EC04DD8D5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7046" y="3985021"/>
            <a:ext cx="516155" cy="516155"/>
          </a:xfrm>
          <a:prstGeom prst="rect">
            <a:avLst/>
          </a:prstGeom>
        </p:spPr>
      </p:pic>
      <p:pic>
        <p:nvPicPr>
          <p:cNvPr id="39" name="グラフィックス 38" descr="インターネット">
            <a:extLst>
              <a:ext uri="{FF2B5EF4-FFF2-40B4-BE49-F238E27FC236}">
                <a16:creationId xmlns:a16="http://schemas.microsoft.com/office/drawing/2014/main" id="{9DF64CD0-DFDA-733B-76F7-CBCB0C50B8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69538" y="3985021"/>
            <a:ext cx="516155" cy="516155"/>
          </a:xfrm>
          <a:prstGeom prst="rect">
            <a:avLst/>
          </a:prstGeom>
        </p:spPr>
      </p:pic>
      <p:pic>
        <p:nvPicPr>
          <p:cNvPr id="42" name="グラフィックス 41" descr="インターネット">
            <a:extLst>
              <a:ext uri="{FF2B5EF4-FFF2-40B4-BE49-F238E27FC236}">
                <a16:creationId xmlns:a16="http://schemas.microsoft.com/office/drawing/2014/main" id="{5B449C65-EDDA-006A-DBD7-7793A2B16D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0149" y="3985021"/>
            <a:ext cx="516155" cy="516155"/>
          </a:xfrm>
          <a:prstGeom prst="rect">
            <a:avLst/>
          </a:prstGeom>
        </p:spPr>
      </p:pic>
      <p:sp>
        <p:nvSpPr>
          <p:cNvPr id="43" name="Rectangle 2">
            <a:extLst>
              <a:ext uri="{FF2B5EF4-FFF2-40B4-BE49-F238E27FC236}">
                <a16:creationId xmlns:a16="http://schemas.microsoft.com/office/drawing/2014/main" id="{EFA43C2A-06DF-2565-052B-9AF0510313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533" y="4907509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7</a:t>
            </a: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D4C0C47A-0828-9217-E8EE-6F34D6D0C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3250" y="4907509"/>
            <a:ext cx="76598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</a:p>
        </p:txBody>
      </p:sp>
      <p:sp>
        <p:nvSpPr>
          <p:cNvPr id="46" name="矢印: 下カーブ 45">
            <a:extLst>
              <a:ext uri="{FF2B5EF4-FFF2-40B4-BE49-F238E27FC236}">
                <a16:creationId xmlns:a16="http://schemas.microsoft.com/office/drawing/2014/main" id="{67AD79A5-C323-C658-EF68-4406B094C26E}"/>
              </a:ext>
            </a:extLst>
          </p:cNvPr>
          <p:cNvSpPr/>
          <p:nvPr/>
        </p:nvSpPr>
        <p:spPr>
          <a:xfrm rot="20555155">
            <a:off x="1037380" y="2361050"/>
            <a:ext cx="4035139" cy="1130861"/>
          </a:xfrm>
          <a:prstGeom prst="curvedDown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4AAB3E5-FB77-37B3-E49A-2D81A1D32438}"/>
              </a:ext>
            </a:extLst>
          </p:cNvPr>
          <p:cNvSpPr/>
          <p:nvPr/>
        </p:nvSpPr>
        <p:spPr>
          <a:xfrm>
            <a:off x="5176301" y="2262748"/>
            <a:ext cx="2806719" cy="4168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5" name="Rectangle 2">
            <a:extLst>
              <a:ext uri="{FF2B5EF4-FFF2-40B4-BE49-F238E27FC236}">
                <a16:creationId xmlns:a16="http://schemas.microsoft.com/office/drawing/2014/main" id="{305B5F80-863E-64DE-4E6E-BE12C0A6AF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08949" y="6489663"/>
            <a:ext cx="1994546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5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共通度一覧画面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6" name="Rectangle 2">
            <a:extLst>
              <a:ext uri="{FF2B5EF4-FFF2-40B4-BE49-F238E27FC236}">
                <a16:creationId xmlns:a16="http://schemas.microsoft.com/office/drawing/2014/main" id="{FA7972C0-3DBD-D528-BFB1-D6B82C91C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2659" y="2772224"/>
            <a:ext cx="259840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さんとの共通度は</a:t>
            </a:r>
            <a:r>
              <a:rPr lang="en-US" altLang="ja-JP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80</a:t>
            </a:r>
            <a:r>
              <a:rPr lang="ja-JP" altLang="en-US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％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です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27" name="Rectangle 2">
            <a:extLst>
              <a:ext uri="{FF2B5EF4-FFF2-40B4-BE49-F238E27FC236}">
                <a16:creationId xmlns:a16="http://schemas.microsoft.com/office/drawing/2014/main" id="{67E6DEA1-6D6B-E471-3F25-E34FF01C0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5736" y="3049223"/>
            <a:ext cx="116532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solidFill>
                  <a:srgbClr val="0070C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詳細はこちら</a:t>
            </a:r>
            <a:endParaRPr lang="en-US" altLang="ja-JP" sz="1200" b="1" dirty="0">
              <a:solidFill>
                <a:srgbClr val="0070C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1" name="Rectangle 2">
            <a:extLst>
              <a:ext uri="{FF2B5EF4-FFF2-40B4-BE49-F238E27FC236}">
                <a16:creationId xmlns:a16="http://schemas.microsoft.com/office/drawing/2014/main" id="{C8BB63AB-7AAE-7765-BA9B-E5FB5735B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2659" y="3432290"/>
            <a:ext cx="2598405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7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さんとの共通度は</a:t>
            </a:r>
            <a:r>
              <a:rPr lang="en-US" altLang="ja-JP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20</a:t>
            </a:r>
            <a:r>
              <a:rPr lang="ja-JP" altLang="en-US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％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です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F22B912D-C974-DC56-E7BE-0F4AD5ACC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5736" y="3709289"/>
            <a:ext cx="1165327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solidFill>
                  <a:srgbClr val="0070C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詳細はこちら</a:t>
            </a:r>
            <a:endParaRPr lang="en-US" altLang="ja-JP" sz="1200" b="1" dirty="0">
              <a:solidFill>
                <a:srgbClr val="0070C0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5" name="Rectangle 2">
            <a:extLst>
              <a:ext uri="{FF2B5EF4-FFF2-40B4-BE49-F238E27FC236}">
                <a16:creationId xmlns:a16="http://schemas.microsoft.com/office/drawing/2014/main" id="{7915244F-3AA5-1756-5003-4C38D71FFC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7019" y="4933939"/>
            <a:ext cx="2444044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メンバーの回答結果を表示する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1BE44FC2-BC5D-6E28-8897-1A6BCFE51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6942" y="5304915"/>
            <a:ext cx="811158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終了する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12537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AC5C9-D23E-9855-E08E-0F7D7250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AE9237-3E6D-17BF-7F4A-A62FECF8B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5180542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572F398-C42C-6A18-CCB7-5D09C36393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92307"/>
            <a:ext cx="5796714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6.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共通度詳細表示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7ED67C7-5870-D4A8-B97B-62D5238793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1708218"/>
            <a:ext cx="10316016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共通度一覧画面の「詳細はこちら」を押下して共通度詳細画面を確認する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※</a:t>
            </a:r>
            <a:r>
              <a:rPr lang="ja-JP" altLang="en-US" sz="2400" b="1" u="sng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共通度に応じて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共通度詳細画面の内容は変わる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9C206BEC-BC73-9E2A-CD7E-E3E6F82887B9}"/>
              </a:ext>
            </a:extLst>
          </p:cNvPr>
          <p:cNvSpPr/>
          <p:nvPr/>
        </p:nvSpPr>
        <p:spPr>
          <a:xfrm>
            <a:off x="677332" y="2829415"/>
            <a:ext cx="2598404" cy="3141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1" name="Rectangle 2">
            <a:extLst>
              <a:ext uri="{FF2B5EF4-FFF2-40B4-BE49-F238E27FC236}">
                <a16:creationId xmlns:a16="http://schemas.microsoft.com/office/drawing/2014/main" id="{53B31D7B-CA1A-4A67-97F2-219053A9D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947" y="5984602"/>
            <a:ext cx="224117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共通度詳細画面（共通度</a:t>
            </a:r>
            <a:r>
              <a:rPr lang="ja-JP" altLang="en-US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低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7" name="Rectangle 2">
            <a:extLst>
              <a:ext uri="{FF2B5EF4-FFF2-40B4-BE49-F238E27FC236}">
                <a16:creationId xmlns:a16="http://schemas.microsoft.com/office/drawing/2014/main" id="{4245CCED-8CF3-B873-DF47-D38A32BBF7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512" y="2916627"/>
            <a:ext cx="24440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さんとの共通度は低です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A656A4-383F-8B7E-83D3-AFEFB6491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4046" y="3429000"/>
            <a:ext cx="1676032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FE55018-CF4A-EA41-7BEE-3AD650DADEBB}"/>
              </a:ext>
            </a:extLst>
          </p:cNvPr>
          <p:cNvSpPr/>
          <p:nvPr/>
        </p:nvSpPr>
        <p:spPr>
          <a:xfrm>
            <a:off x="3714334" y="2829415"/>
            <a:ext cx="2598404" cy="3141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5F93EA7-C18F-CA96-49E9-A89101362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2949" y="5984602"/>
            <a:ext cx="224117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共通度詳細画面（共通度</a:t>
            </a:r>
            <a:r>
              <a:rPr lang="ja-JP" altLang="en-US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中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A9AA978E-69FA-A3D9-7B4D-659E86E033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1514" y="2916627"/>
            <a:ext cx="24440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さんとの共通度は中です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D3C4DCB8-BF22-2D58-CC8C-C9A07533B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1048" y="3429000"/>
            <a:ext cx="1676032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BCDCBAD-EFE7-C29B-6D30-03CBD94BE25D}"/>
              </a:ext>
            </a:extLst>
          </p:cNvPr>
          <p:cNvSpPr/>
          <p:nvPr/>
        </p:nvSpPr>
        <p:spPr>
          <a:xfrm>
            <a:off x="6751336" y="2829415"/>
            <a:ext cx="2598404" cy="31419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E572FF42-3704-F2CC-0168-52B946D7DA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9951" y="5984602"/>
            <a:ext cx="224117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共通度詳細画面（共通度</a:t>
            </a:r>
            <a:r>
              <a:rPr lang="ja-JP" altLang="en-US" sz="1200" b="1" dirty="0">
                <a:solidFill>
                  <a:srgbClr val="FF0000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高</a:t>
            </a: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3" name="Rectangle 2">
            <a:extLst>
              <a:ext uri="{FF2B5EF4-FFF2-40B4-BE49-F238E27FC236}">
                <a16:creationId xmlns:a16="http://schemas.microsoft.com/office/drawing/2014/main" id="{93595331-9588-418B-1BF7-8B409AF4EB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8516" y="2916627"/>
            <a:ext cx="24440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参加者</a:t>
            </a:r>
            <a:r>
              <a:rPr lang="en-US" altLang="ja-JP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6</a:t>
            </a: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さんとの共通度は高です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4D7C99DA-2D1C-A058-F61E-F6F0EFE1B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8050" y="3429000"/>
            <a:ext cx="1676032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b="1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ーーーーーーーー</a:t>
            </a: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ja-JP" sz="1200" b="1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71C40797-D59B-4455-BC8F-02D02D8BE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6617" y="5562503"/>
            <a:ext cx="544805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戻る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255EF565-0B21-AC67-88A7-8AAB2DEF3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4830" y="5562503"/>
            <a:ext cx="544805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戻る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D293B4B4-2D9D-2E0C-3059-25958D30F6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30624" y="5562502"/>
            <a:ext cx="544805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戻る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924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808F-40F5-4B5B-3285-4D5A3A2C0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D45244-92D0-A76A-259F-E725950A6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342467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4.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共通点発見アプリ使用手順</a:t>
            </a:r>
            <a:endParaRPr kumimoji="0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0D12149-CA94-5BEE-344D-9A8FE56742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82682"/>
            <a:ext cx="5796714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フェーズ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7.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回答内容確認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B658331-7FBE-8E2E-5527-A6CED776C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2" y="1708218"/>
            <a:ext cx="9709841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回答確認画面にて共通度画面の「メンバーの回答結果を表示する」を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押下してメンバーの回答内容を確認する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4B653A7-A3C4-BCA3-FE89-AC3539C7F5C7}"/>
              </a:ext>
            </a:extLst>
          </p:cNvPr>
          <p:cNvSpPr/>
          <p:nvPr/>
        </p:nvSpPr>
        <p:spPr>
          <a:xfrm>
            <a:off x="3023388" y="2539215"/>
            <a:ext cx="4965470" cy="390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CF6B4EDE-8994-9228-DF9D-13C08BA726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04919" y="6581001"/>
            <a:ext cx="113939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回答確認画面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17" name="Rectangle 2">
            <a:extLst>
              <a:ext uri="{FF2B5EF4-FFF2-40B4-BE49-F238E27FC236}">
                <a16:creationId xmlns:a16="http://schemas.microsoft.com/office/drawing/2014/main" id="{A57A85B6-7D4D-12F5-2791-2790DC66A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64603" y="6097234"/>
            <a:ext cx="544805" cy="276999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戻る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3E25762C-E5D7-A319-DD50-01C5E1FDA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873453"/>
              </p:ext>
            </p:extLst>
          </p:nvPr>
        </p:nvGraphicFramePr>
        <p:xfrm>
          <a:off x="3102839" y="4056562"/>
          <a:ext cx="4806569" cy="11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218">
                  <a:extLst>
                    <a:ext uri="{9D8B030D-6E8A-4147-A177-3AD203B41FA5}">
                      <a16:colId xmlns:a16="http://schemas.microsoft.com/office/drawing/2014/main" val="1156698511"/>
                    </a:ext>
                  </a:extLst>
                </a:gridCol>
                <a:gridCol w="1538893">
                  <a:extLst>
                    <a:ext uri="{9D8B030D-6E8A-4147-A177-3AD203B41FA5}">
                      <a16:colId xmlns:a16="http://schemas.microsoft.com/office/drawing/2014/main" val="1790417700"/>
                    </a:ext>
                  </a:extLst>
                </a:gridCol>
                <a:gridCol w="912821">
                  <a:extLst>
                    <a:ext uri="{9D8B030D-6E8A-4147-A177-3AD203B41FA5}">
                      <a16:colId xmlns:a16="http://schemas.microsoft.com/office/drawing/2014/main" val="3268651200"/>
                    </a:ext>
                  </a:extLst>
                </a:gridCol>
                <a:gridCol w="967818">
                  <a:extLst>
                    <a:ext uri="{9D8B030D-6E8A-4147-A177-3AD203B41FA5}">
                      <a16:colId xmlns:a16="http://schemas.microsoft.com/office/drawing/2014/main" val="3624005325"/>
                    </a:ext>
                  </a:extLst>
                </a:gridCol>
                <a:gridCol w="967819">
                  <a:extLst>
                    <a:ext uri="{9D8B030D-6E8A-4147-A177-3AD203B41FA5}">
                      <a16:colId xmlns:a16="http://schemas.microsoft.com/office/drawing/2014/main" val="1456191553"/>
                    </a:ext>
                  </a:extLst>
                </a:gridCol>
              </a:tblGrid>
              <a:tr h="278116">
                <a:tc>
                  <a:txBody>
                    <a:bodyPr/>
                    <a:lstStyle/>
                    <a:p>
                      <a:r>
                        <a:rPr kumimoji="1" lang="en-US" altLang="ja-JP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#</a:t>
                      </a:r>
                      <a:endParaRPr kumimoji="1" lang="ja-JP" altLang="en-US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質問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参加者</a:t>
                      </a:r>
                      <a:r>
                        <a:rPr kumimoji="1" lang="en-US" altLang="ja-JP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</a:t>
                      </a:r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参加者</a:t>
                      </a:r>
                      <a:r>
                        <a:rPr kumimoji="1" lang="en-US" altLang="ja-JP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6</a:t>
                      </a:r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参加者</a:t>
                      </a:r>
                      <a:r>
                        <a:rPr kumimoji="1" lang="en-US" altLang="ja-JP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7</a:t>
                      </a:r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回答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644322"/>
                  </a:ext>
                </a:extLst>
              </a:tr>
              <a:tr h="278116">
                <a:tc>
                  <a:txBody>
                    <a:bodyPr/>
                    <a:lstStyle/>
                    <a:p>
                      <a:r>
                        <a:rPr kumimoji="1" lang="en-US" altLang="ja-JP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</a:t>
                      </a:r>
                      <a:endParaRPr kumimoji="1" lang="ja-JP" altLang="en-US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今日は運動しましたか</a:t>
                      </a:r>
                      <a:endParaRPr kumimoji="1" lang="ja-JP" altLang="en-US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7127030"/>
                  </a:ext>
                </a:extLst>
              </a:tr>
              <a:tr h="278116"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  <a:endParaRPr kumimoji="1" lang="en-US" altLang="ja-JP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7443424"/>
                  </a:ext>
                </a:extLst>
              </a:tr>
              <a:tr h="278116">
                <a:tc>
                  <a:txBody>
                    <a:bodyPr/>
                    <a:lstStyle/>
                    <a:p>
                      <a:r>
                        <a:rPr kumimoji="1" lang="en-US" altLang="ja-JP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10</a:t>
                      </a:r>
                      <a:endParaRPr kumimoji="1" lang="ja-JP" altLang="en-US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今日は外に出ましたか？</a:t>
                      </a:r>
                      <a:endParaRPr kumimoji="1" lang="ja-JP" altLang="en-US" sz="900" dirty="0"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いいえ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はい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900" dirty="0"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いいえ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167373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2B9DDED1-9F36-C32D-C9E8-B74C97F0A4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02839" y="3370212"/>
            <a:ext cx="1875484" cy="27699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12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回答結果は以下です</a:t>
            </a:r>
            <a:endParaRPr lang="en-US" altLang="ja-JP" sz="12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932408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DCB03-AEB0-0F40-0EEC-53AF751D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47ED2B-4B55-D9C4-F8B4-93B1B06DA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2452366" cy="582706"/>
          </a:xfrm>
        </p:spPr>
        <p:txBody>
          <a:bodyPr>
            <a:normAutofit fontScale="90000"/>
          </a:bodyPr>
          <a:lstStyle/>
          <a:p>
            <a:pPr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5.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役割分担</a:t>
            </a:r>
            <a:endParaRPr kumimoji="0" lang="ja-JP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7EE88E86-C230-3226-59DE-FF49AC04D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5" y="1192306"/>
            <a:ext cx="121745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役割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5A95968-1639-B616-E04D-8C55A2BDF5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2023303"/>
            <a:ext cx="944381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38B888CF-BD0A-FABA-BE62-FA779E750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775012"/>
            <a:ext cx="897571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・バックエンド　　　　　　　　　：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・フロント（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HTML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CSS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 　　　  ：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・フロント（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JS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）                                    ：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・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DB                                                              </a:t>
            </a: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：</a:t>
            </a: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  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191666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1DEF1-8279-D38C-D140-9E8CE9D89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66B557-E39E-627F-4AC2-B0B8452F8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1905611" cy="582706"/>
          </a:xfrm>
        </p:spPr>
        <p:txBody>
          <a:bodyPr>
            <a:normAutofit fontScale="90000"/>
          </a:bodyPr>
          <a:lstStyle/>
          <a:p>
            <a:pPr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6.</a:t>
            </a:r>
            <a:r>
              <a:rPr kumimoji="0" lang="ja-JP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改善点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88DFBCF-CEA8-7E84-917E-06B97399F5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5" y="1192306"/>
            <a:ext cx="1217453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改善点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900C45-E3DB-8898-09C2-35B7C16A0F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838637"/>
            <a:ext cx="9443818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例えば、、、</a:t>
            </a:r>
            <a:endParaRPr lang="en-US" altLang="ja-JP" sz="2400" dirty="0">
              <a:latin typeface="Noto Sans JP" panose="020B0200000000000000" pitchFamily="50" charset="-128"/>
              <a:ea typeface="Noto Sans JP" panose="020B0200000000000000" pitchFamily="50" charset="-128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ja-JP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git</a:t>
            </a: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によるソース管理</a:t>
            </a:r>
          </a:p>
        </p:txBody>
      </p:sp>
    </p:spTree>
    <p:extLst>
      <p:ext uri="{BB962C8B-B14F-4D97-AF65-F5344CB8AC3E}">
        <p14:creationId xmlns:p14="http://schemas.microsoft.com/office/powerpoint/2010/main" val="297866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89FAA-0E0F-E042-FAF7-7E462255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F284F4-A005-24A3-495D-DFB5B7123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760196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7.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まとめ</a:t>
            </a:r>
            <a:endParaRPr kumimoji="0" lang="ja-JP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45F1BB5-C810-1AEF-774C-71D4EC306B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5" y="1192306"/>
            <a:ext cx="2424084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Noto Sans JP" panose="020B0200000000000000" pitchFamily="50" charset="-128"/>
                <a:ea typeface="Noto Sans JP" panose="020B0200000000000000" pitchFamily="50" charset="-128"/>
              </a:rPr>
              <a:t>学んだこと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F9C04B5-7BEA-679C-C9B1-A2769B50CD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775012"/>
            <a:ext cx="944381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ーーーー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597286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36492-40BE-4AF3-F5EA-0EA669F60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9C3C2E-1A6C-817C-D637-E0DD9CDA4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760196" cy="582706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kumimoji="0" lang="en-US" altLang="ja-JP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8.</a:t>
            </a:r>
            <a:r>
              <a:rPr kumimoji="0" lang="ja-JP" altLang="en-US" dirty="0">
                <a:solidFill>
                  <a:schemeClr val="tx1"/>
                </a:solidFill>
                <a:latin typeface="Noto Sans JP" panose="020B0200000000000000" pitchFamily="50" charset="-128"/>
                <a:ea typeface="Noto Sans JP" panose="020B0200000000000000" pitchFamily="50" charset="-128"/>
              </a:rPr>
              <a:t>付録</a:t>
            </a:r>
            <a:endParaRPr kumimoji="0" lang="ja-JP" altLang="ja-JP" dirty="0">
              <a:solidFill>
                <a:schemeClr val="tx1"/>
              </a:solidFill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598FE3D-3689-F500-3AB3-58775C0CB3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4" y="1192306"/>
            <a:ext cx="4161794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ja-JP" altLang="en-US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ドキュメント・ソースコード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4AA6A34-C39D-F7C3-97A2-ABFF593F52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7333" y="1775012"/>
            <a:ext cx="9443818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ja-JP" sz="2400" dirty="0">
                <a:latin typeface="Noto Sans JP" panose="020B0200000000000000" pitchFamily="50" charset="-128"/>
                <a:ea typeface="Noto Sans JP" panose="020B0200000000000000" pitchFamily="50" charset="-128"/>
              </a:rPr>
              <a:t>https://github.com/ryuseim1115/apprentice-term6-team-dev</a:t>
            </a:r>
            <a:endParaRPr kumimoji="0" lang="ja-JP" altLang="en-US" sz="2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Noto Sans JP" panose="020B0200000000000000" pitchFamily="50" charset="-128"/>
              <a:ea typeface="Noto Sans JP" panose="020B02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6045214"/>
      </p:ext>
    </p:extLst>
  </p:cSld>
  <p:clrMapOvr>
    <a:masterClrMapping/>
  </p:clrMapOvr>
</p:sld>
</file>

<file path=ppt/theme/theme1.xml><?xml version="1.0" encoding="utf-8"?>
<a:theme xmlns:a="http://schemas.openxmlformats.org/drawingml/2006/main" name="ファセット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588</TotalTime>
  <Words>783</Words>
  <Application>Microsoft Office PowerPoint</Application>
  <PresentationFormat>ワイド画面</PresentationFormat>
  <Paragraphs>167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Meiryo UI</vt:lpstr>
      <vt:lpstr>Noto Sans JP</vt:lpstr>
      <vt:lpstr>游ゴシック</vt:lpstr>
      <vt:lpstr>Arial</vt:lpstr>
      <vt:lpstr>Trebuchet MS</vt:lpstr>
      <vt:lpstr>Wingdings 3</vt:lpstr>
      <vt:lpstr>ファセット</vt:lpstr>
      <vt:lpstr>共通点発見アプリについて</vt:lpstr>
      <vt:lpstr>目次</vt:lpstr>
      <vt:lpstr>1.背景・課題</vt:lpstr>
      <vt:lpstr>2.アプリ開発目的</vt:lpstr>
      <vt:lpstr>3.共通点発見アプリの概要</vt:lpstr>
      <vt:lpstr>4.共通点発見アプリ使用手順</vt:lpstr>
      <vt:lpstr>4.共通点発見アプリ使用手順</vt:lpstr>
      <vt:lpstr>4.共通点発見アプリ使用手順</vt:lpstr>
      <vt:lpstr>4.共通点発見アプリ使用手順</vt:lpstr>
      <vt:lpstr>4.共通点発見アプリ使用手順</vt:lpstr>
      <vt:lpstr>4.共通点発見アプリ使用手順</vt:lpstr>
      <vt:lpstr>4.共通点発見アプリ使用手順</vt:lpstr>
      <vt:lpstr>5.役割分担</vt:lpstr>
      <vt:lpstr>6.改善点</vt:lpstr>
      <vt:lpstr>7.まとめ</vt:lpstr>
      <vt:lpstr>8.付録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竜盛 前渕</dc:creator>
  <cp:lastModifiedBy>ryusei</cp:lastModifiedBy>
  <cp:revision>169</cp:revision>
  <dcterms:created xsi:type="dcterms:W3CDTF">2026-01-31T13:59:45Z</dcterms:created>
  <dcterms:modified xsi:type="dcterms:W3CDTF">2026-02-14T13:42:45Z</dcterms:modified>
</cp:coreProperties>
</file>