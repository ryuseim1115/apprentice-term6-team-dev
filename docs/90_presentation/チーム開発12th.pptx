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263" r:id="rId6"/>
    <p:sldId id="268" r:id="rId7"/>
    <p:sldId id="267" r:id="rId8"/>
    <p:sldId id="274" r:id="rId9"/>
    <p:sldId id="269" r:id="rId10"/>
    <p:sldId id="270" r:id="rId11"/>
    <p:sldId id="271" r:id="rId12"/>
    <p:sldId id="265" r:id="rId13"/>
    <p:sldId id="272" r:id="rId14"/>
    <p:sldId id="266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444" autoAdjust="0"/>
  </p:normalViewPr>
  <p:slideViewPr>
    <p:cSldViewPr snapToGrid="0">
      <p:cViewPr>
        <p:scale>
          <a:sx n="100" d="100"/>
          <a:sy n="100" d="100"/>
        </p:scale>
        <p:origin x="88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A2DA1-27B4-4683-BF67-59956D1BF85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86DA3-4F89-40D8-BD55-00CDD58BB4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26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F5B00-B85F-0525-3621-D128D50D8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368821"/>
            <a:ext cx="7316422" cy="876692"/>
          </a:xfrm>
        </p:spPr>
        <p:txBody>
          <a:bodyPr/>
          <a:lstStyle/>
          <a:p>
            <a:pPr algn="l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共通点発見アプリについて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C51E00-4832-783E-7FDC-475B6C28E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5270251" cy="2556155"/>
          </a:xfrm>
        </p:spPr>
        <p:txBody>
          <a:bodyPr>
            <a:noAutofit/>
          </a:bodyPr>
          <a:lstStyle/>
          <a:p>
            <a:pPr algn="l"/>
            <a:r>
              <a:rPr lang="ja-JP" altLang="en-US" sz="2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プロジェクトメンバー</a:t>
            </a:r>
            <a:endParaRPr lang="en-US" altLang="ja-JP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石本 純貴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怡田 嶺哉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棚 英雄</a:t>
            </a:r>
            <a:endParaRPr lang="en-US" altLang="ja-JP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前渕 竜盛</a:t>
            </a:r>
          </a:p>
          <a:p>
            <a:pPr algn="l"/>
            <a:endParaRPr kumimoji="1" lang="ja-JP" altLang="en-US" sz="2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0905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59E7-BEFD-D8DA-29A2-D0E296E3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F54735-D6A9-9CB1-9105-F2B26041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06642" cy="582706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92D1E47F-F105-19D7-F5E8-A148CD49D2C8}"/>
              </a:ext>
            </a:extLst>
          </p:cNvPr>
          <p:cNvSpPr txBox="1">
            <a:spLocks/>
          </p:cNvSpPr>
          <p:nvPr/>
        </p:nvSpPr>
        <p:spPr>
          <a:xfrm>
            <a:off x="1340722" y="3137646"/>
            <a:ext cx="8596668" cy="13088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endParaRPr lang="en-US" altLang="ja-JP" sz="1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728158-7459-1FC7-9B6E-E440B6F2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05784"/>
            <a:ext cx="460511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背景・課題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共通点発見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アプリ開発目的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共通点発見</a:t>
            </a:r>
            <a:r>
              <a:rPr lang="ja-JP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アプリ概要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使用手順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役割分担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kumimoji="0" lang="en-US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8.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付録</a:t>
            </a:r>
          </a:p>
        </p:txBody>
      </p:sp>
    </p:spTree>
    <p:extLst>
      <p:ext uri="{BB962C8B-B14F-4D97-AF65-F5344CB8AC3E}">
        <p14:creationId xmlns:p14="http://schemas.microsoft.com/office/powerpoint/2010/main" val="219749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9760-BF0A-B859-45CE-7EC83FDC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914A8-4BB3-1320-75D1-143BF7DE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2442385" cy="582706"/>
          </a:xfrm>
        </p:spPr>
        <p:txBody>
          <a:bodyPr>
            <a:normAutofit fontScale="90000"/>
          </a:bodyPr>
          <a:lstStyle/>
          <a:p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0"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背景・課題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43FD0A-547E-7333-B8A6-B06419CBB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背景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B12C57-DECC-1503-0143-F7E22022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62" y="1661888"/>
            <a:ext cx="944381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リモートワーク普及により、</a:t>
            </a:r>
            <a:r>
              <a:rPr lang="ja-JP" altLang="en-US" sz="2400" b="1" u="sng" dirty="0"/>
              <a:t>オンライン交流機会</a:t>
            </a:r>
            <a:r>
              <a:rPr lang="ja-JP" altLang="en-US" sz="2400" dirty="0"/>
              <a:t>が増加している。オンラインは対面交流と比べて</a:t>
            </a:r>
            <a:r>
              <a:rPr lang="ja-JP" altLang="en-US" sz="2400" b="1" u="sng" dirty="0"/>
              <a:t>情報量が少なく</a:t>
            </a:r>
            <a:r>
              <a:rPr lang="ja-JP" altLang="en-US" sz="2400" dirty="0"/>
              <a:t>、</a:t>
            </a:r>
            <a:r>
              <a:rPr lang="ja-JP" altLang="en-US" sz="2400" b="1" u="sng" dirty="0"/>
              <a:t>共通の話題</a:t>
            </a:r>
            <a:r>
              <a:rPr lang="ja-JP" altLang="en-US" sz="2400" dirty="0"/>
              <a:t>を見つけることが難しい。</a:t>
            </a:r>
            <a:endParaRPr lang="en-US" altLang="ja-JP" sz="2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645A40-9ADA-BFBD-B1FD-DDC495CEF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5204029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課題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1D4DD4-5422-FC84-95C7-9307D4AA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5699116"/>
            <a:ext cx="72600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オンラインはオフラインと比べて</a:t>
            </a:r>
            <a:r>
              <a:rPr lang="ja-JP" altLang="en-US" sz="2400" b="1" u="sng" dirty="0"/>
              <a:t>関係構築が難しい</a:t>
            </a:r>
            <a:endParaRPr lang="ja-JP" altLang="en-US" sz="24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0FAEE9B-1207-8D39-68A7-58C71509A6DC}"/>
              </a:ext>
            </a:extLst>
          </p:cNvPr>
          <p:cNvGrpSpPr/>
          <p:nvPr/>
        </p:nvGrpSpPr>
        <p:grpSpPr>
          <a:xfrm>
            <a:off x="2818614" y="3030141"/>
            <a:ext cx="3725160" cy="2288538"/>
            <a:chOff x="2818614" y="3030141"/>
            <a:chExt cx="3725160" cy="2288538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13A76B6C-6D4B-B0AF-2BB1-12CD45245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8614" y="3030141"/>
              <a:ext cx="3725160" cy="2288538"/>
            </a:xfrm>
            <a:prstGeom prst="rect">
              <a:avLst/>
            </a:prstGeom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F92F8871-74AF-5236-9A39-69A219A62121}"/>
                </a:ext>
              </a:extLst>
            </p:cNvPr>
            <p:cNvSpPr/>
            <p:nvPr/>
          </p:nvSpPr>
          <p:spPr>
            <a:xfrm>
              <a:off x="3935517" y="3832197"/>
              <a:ext cx="154946" cy="1023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吹き出し: 円形 13">
              <a:extLst>
                <a:ext uri="{FF2B5EF4-FFF2-40B4-BE49-F238E27FC236}">
                  <a16:creationId xmlns:a16="http://schemas.microsoft.com/office/drawing/2014/main" id="{116893BB-09F7-1C01-5D3F-59AB81B1096E}"/>
                </a:ext>
              </a:extLst>
            </p:cNvPr>
            <p:cNvSpPr/>
            <p:nvPr/>
          </p:nvSpPr>
          <p:spPr>
            <a:xfrm>
              <a:off x="3189840" y="3357305"/>
              <a:ext cx="1419867" cy="531454"/>
            </a:xfrm>
            <a:prstGeom prst="wedgeEllipseCallout">
              <a:avLst>
                <a:gd name="adj1" fmla="val -23560"/>
                <a:gd name="adj2" fmla="val 11463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</a:rPr>
                <a:t>同じノート持ってます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FCFC0F4-AE93-7DF5-ACB9-7A5F9A5A88FE}"/>
                </a:ext>
              </a:extLst>
            </p:cNvPr>
            <p:cNvSpPr/>
            <p:nvPr/>
          </p:nvSpPr>
          <p:spPr>
            <a:xfrm>
              <a:off x="3216291" y="3142572"/>
              <a:ext cx="925819" cy="214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7BF364EF-0A5A-32B4-65B8-52F054E03740}"/>
                </a:ext>
              </a:extLst>
            </p:cNvPr>
            <p:cNvSpPr/>
            <p:nvPr/>
          </p:nvSpPr>
          <p:spPr>
            <a:xfrm>
              <a:off x="5231543" y="3142572"/>
              <a:ext cx="925819" cy="214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B69600D-60A5-2ECE-7B52-BEB82E662F2B}"/>
              </a:ext>
            </a:extLst>
          </p:cNvPr>
          <p:cNvSpPr/>
          <p:nvPr/>
        </p:nvSpPr>
        <p:spPr>
          <a:xfrm>
            <a:off x="5123644" y="3030141"/>
            <a:ext cx="972356" cy="200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オンライン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D993BD1-539C-163A-F79A-288D4B17FF66}"/>
              </a:ext>
            </a:extLst>
          </p:cNvPr>
          <p:cNvSpPr/>
          <p:nvPr/>
        </p:nvSpPr>
        <p:spPr>
          <a:xfrm>
            <a:off x="3297380" y="3030141"/>
            <a:ext cx="972356" cy="200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オフライン</a:t>
            </a:r>
          </a:p>
        </p:txBody>
      </p:sp>
    </p:spTree>
    <p:extLst>
      <p:ext uri="{BB962C8B-B14F-4D97-AF65-F5344CB8AC3E}">
        <p14:creationId xmlns:p14="http://schemas.microsoft.com/office/powerpoint/2010/main" val="13941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CA55-3286-A566-62FC-362E7435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5EA5C3-F4D5-5158-BF48-2666C78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アプリ開発目的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3A7F3A-DD56-6710-637C-4E6D1FA61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846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CAAE83-E601-B9A2-EDFB-1F0CD79D5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本アプリは、初対面の人との関係構築を支援することを目的とする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795767D-CAF5-6BA9-D8F7-B0737EB7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073" y="3309078"/>
            <a:ext cx="2343477" cy="236253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C6A3406-50E4-28B1-06EF-029079D852A1}"/>
              </a:ext>
            </a:extLst>
          </p:cNvPr>
          <p:cNvSpPr/>
          <p:nvPr/>
        </p:nvSpPr>
        <p:spPr>
          <a:xfrm>
            <a:off x="4266633" y="3030141"/>
            <a:ext cx="972356" cy="2003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/>
              <a:t>オンライン</a:t>
            </a:r>
          </a:p>
        </p:txBody>
      </p:sp>
    </p:spTree>
    <p:extLst>
      <p:ext uri="{BB962C8B-B14F-4D97-AF65-F5344CB8AC3E}">
        <p14:creationId xmlns:p14="http://schemas.microsoft.com/office/powerpoint/2010/main" val="313072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6361-94E1-EC7C-526F-FC282741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242AF-99E1-BEE5-2102-0F83A9CC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</a:t>
            </a:r>
            <a:r>
              <a:rPr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アプリの概要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94103-359D-AEA3-E107-30287E52B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192306"/>
            <a:ext cx="31774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利用者（ユーザー）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2EA920-2AB1-A728-007E-19176B8B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57082"/>
            <a:ext cx="69605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初対面同士が集まるオンラインイベントの</a:t>
            </a:r>
            <a:r>
              <a:rPr lang="ja-JP" altLang="en-US" sz="2400" b="1" u="sng" dirty="0"/>
              <a:t>参加者</a:t>
            </a:r>
            <a:endParaRPr kumimoji="0" lang="ja-JP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0CA6B33-9558-311D-25BD-AD54D3513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2236677"/>
            <a:ext cx="402913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/>
              <a:t>1</a:t>
            </a:r>
            <a:r>
              <a:rPr lang="ja-JP" altLang="en-US" sz="2400" dirty="0"/>
              <a:t>グループあたりの利用人数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F67DEA-505D-8DAD-FB2E-C3E565EF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2783523"/>
            <a:ext cx="14741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人</a:t>
            </a:r>
            <a:endParaRPr kumimoji="0" lang="ja-JP" altLang="en-US" sz="24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E6FC1D6-9DBA-77B4-074D-6D2600381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3348299"/>
            <a:ext cx="31774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利用シーン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DDA3D8B-43E6-3B7B-BA5C-9467DBFDA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3895145"/>
            <a:ext cx="80991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オンラインイベント開始後の</a:t>
            </a:r>
            <a:r>
              <a:rPr lang="ja-JP" altLang="en-US" sz="2400" b="1" u="sng" dirty="0"/>
              <a:t>アイスブレイク</a:t>
            </a:r>
            <a:endParaRPr kumimoji="0" lang="ja-JP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212953-27A2-FB97-A393-A8F80DB4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502" y="4895611"/>
            <a:ext cx="2876467" cy="1495762"/>
          </a:xfrm>
          <a:prstGeom prst="rect">
            <a:avLst/>
          </a:prstGeom>
        </p:spPr>
      </p:pic>
      <p:sp>
        <p:nvSpPr>
          <p:cNvPr id="12" name="吹き出し: 円形 11">
            <a:extLst>
              <a:ext uri="{FF2B5EF4-FFF2-40B4-BE49-F238E27FC236}">
                <a16:creationId xmlns:a16="http://schemas.microsoft.com/office/drawing/2014/main" id="{DF403BAC-100B-B29C-16B6-2270AB88A32A}"/>
              </a:ext>
            </a:extLst>
          </p:cNvPr>
          <p:cNvSpPr/>
          <p:nvPr/>
        </p:nvSpPr>
        <p:spPr>
          <a:xfrm>
            <a:off x="6710902" y="4882416"/>
            <a:ext cx="1032923" cy="531454"/>
          </a:xfrm>
          <a:prstGeom prst="wedgeEllipseCallout">
            <a:avLst>
              <a:gd name="adj1" fmla="val -61661"/>
              <a:gd name="adj2" fmla="val 7162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はじめまして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40CBD5B-029D-FA0A-07C1-CFC5E918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876" y="4385385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アイスブレイク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213F3A0-966B-84DA-A852-1F181B5C6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91" y="4900641"/>
            <a:ext cx="3025989" cy="1530105"/>
          </a:xfrm>
          <a:prstGeom prst="rect">
            <a:avLst/>
          </a:prstGeom>
        </p:spPr>
      </p:pic>
      <p:sp>
        <p:nvSpPr>
          <p:cNvPr id="19" name="吹き出し: 円形 18">
            <a:extLst>
              <a:ext uri="{FF2B5EF4-FFF2-40B4-BE49-F238E27FC236}">
                <a16:creationId xmlns:a16="http://schemas.microsoft.com/office/drawing/2014/main" id="{90333DF0-62EF-79D9-54ED-6C3F51D534C7}"/>
              </a:ext>
            </a:extLst>
          </p:cNvPr>
          <p:cNvSpPr/>
          <p:nvPr/>
        </p:nvSpPr>
        <p:spPr>
          <a:xfrm>
            <a:off x="1662285" y="4655859"/>
            <a:ext cx="2237078" cy="531454"/>
          </a:xfrm>
          <a:prstGeom prst="wedgeEllipseCallout">
            <a:avLst>
              <a:gd name="adj1" fmla="val 13315"/>
              <a:gd name="adj2" fmla="val 7341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グループになって自己紹介をしてください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B73971E-E56F-4507-0E6C-5F1A3715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078" y="4385385"/>
            <a:ext cx="201680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オンラインイベント開始後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3318B482-3321-812A-9261-0B136607346F}"/>
              </a:ext>
            </a:extLst>
          </p:cNvPr>
          <p:cNvSpPr/>
          <p:nvPr/>
        </p:nvSpPr>
        <p:spPr>
          <a:xfrm>
            <a:off x="4437529" y="5413870"/>
            <a:ext cx="1220321" cy="61933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369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5674-CD10-3E48-3F24-3548D7FD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FE582-5C2B-B4B4-1FE8-B3E111A1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509646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040E65-9825-D846-97CC-F6F782D89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77109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ニックネームを入力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BA1E2B-36C5-6552-28FD-85AB6507C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1" y="1775012"/>
            <a:ext cx="93143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ニックネーム入力画面にて参加者が、各々の端末にてニックネームを入力する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842934A-7986-C779-92E9-04DE2AF55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044" y="3487633"/>
            <a:ext cx="187548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ニックネームを入れて下さい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DA850-F2EA-DACC-007F-09AF9022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359" y="6488526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ニックネーム入力画面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9237B9-5C72-EA1A-1651-4E16FB791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044" y="4023522"/>
            <a:ext cx="9730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ニックネーム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7FD7F17-4B4D-5DD3-ADA2-E766EC001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289" y="4061160"/>
            <a:ext cx="112043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8A72AAE-782C-A379-F38E-C7C05346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57" y="5407744"/>
            <a:ext cx="87854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入力完了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5AF0142-BEAB-B61E-5F33-947B3CC4B0E0}"/>
              </a:ext>
            </a:extLst>
          </p:cNvPr>
          <p:cNvSpPr/>
          <p:nvPr/>
        </p:nvSpPr>
        <p:spPr>
          <a:xfrm>
            <a:off x="3307976" y="2236677"/>
            <a:ext cx="2501153" cy="416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17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6D5E-76F0-7A5B-1373-042263D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9FE45-EDE6-7151-78F3-DB5F19FA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51317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8D5C12-8DB9-81BA-0929-0DE05F0A8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483595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質問回答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F442AA-8119-EFA0-3E97-DFC24BFF8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77502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回答送信画面により主催者は各々の端末で質問を回答する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F1BD63-F004-8BD9-A01D-62F326A9CEC0}"/>
              </a:ext>
            </a:extLst>
          </p:cNvPr>
          <p:cNvSpPr/>
          <p:nvPr/>
        </p:nvSpPr>
        <p:spPr>
          <a:xfrm>
            <a:off x="3307976" y="2236677"/>
            <a:ext cx="2501153" cy="416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5E6C037-5F6A-D5C5-4543-58A9DFB43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976" y="2308395"/>
            <a:ext cx="238859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lang="ja-JP" altLang="en-US" sz="1200" dirty="0"/>
              <a:t>今日は運動しましたか？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D7DD45B-F948-13FF-D48A-843AD8FC4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164" y="2585394"/>
            <a:ext cx="454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4BD69D8-F33F-00D7-22AE-287FD235B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976" y="4422287"/>
            <a:ext cx="250115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質問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10.</a:t>
            </a:r>
            <a:r>
              <a:rPr lang="ja-JP" altLang="en-US" sz="1200" dirty="0"/>
              <a:t>今日は外に出ましたか？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59AEB66F-8301-4C02-6ECD-E268A85A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040" y="3273488"/>
            <a:ext cx="100803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1D5483FE-F087-6303-20FA-0A1011D57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786" y="6027387"/>
            <a:ext cx="81578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回答送信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B1739CAA-CF79-5C11-4830-DA3904EAB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2657112"/>
            <a:ext cx="192853" cy="166182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ECC6CE9D-ED05-076A-A45C-9E65857A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2964439"/>
            <a:ext cx="192853" cy="16618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D0446E6-9F00-35FC-8534-87B90FD2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4763186"/>
            <a:ext cx="192853" cy="166182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2A5A9707-3DCF-AE9A-4E5D-C9C7985CA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19" y="5065216"/>
            <a:ext cx="192853" cy="166182"/>
          </a:xfrm>
          <a:prstGeom prst="rect">
            <a:avLst/>
          </a:prstGeom>
        </p:spPr>
      </p:pic>
      <p:sp>
        <p:nvSpPr>
          <p:cNvPr id="41" name="Rectangle 2">
            <a:extLst>
              <a:ext uri="{FF2B5EF4-FFF2-40B4-BE49-F238E27FC236}">
                <a16:creationId xmlns:a16="http://schemas.microsoft.com/office/drawing/2014/main" id="{372903F4-1853-EF49-0167-0E87455FD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67" y="6464890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66EE5EE-114C-7121-807B-18BC04B89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525" y="2917278"/>
            <a:ext cx="5647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D764486-6B52-16FA-0BAD-548FBD16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872" y="4727011"/>
            <a:ext cx="454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D37563E-CB69-9BA9-BDAB-E12E9D9F2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233" y="5058895"/>
            <a:ext cx="5647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34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E34E-2347-2F45-BE52-0349758D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43B3D2-E68F-F29B-ECE4-75699171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284321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グラフィックス 7" descr="ユーザー">
            <a:extLst>
              <a:ext uri="{FF2B5EF4-FFF2-40B4-BE49-F238E27FC236}">
                <a16:creationId xmlns:a16="http://schemas.microsoft.com/office/drawing/2014/main" id="{82997090-AF63-2237-4865-04ED17B77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214" y="3377754"/>
            <a:ext cx="519956" cy="51995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8379F2D7-A1D6-8D3A-A8E0-7AF342E63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295" y="3897710"/>
            <a:ext cx="6877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主催者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7CADEE7-69BE-4956-6DF4-7DD028807C6E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1079719" y="4174709"/>
            <a:ext cx="1533473" cy="679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158C9FE-4175-9567-5713-90AFFCFB34DE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>
            <a:off x="2613192" y="4174709"/>
            <a:ext cx="0" cy="679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E818C205-1A39-2FF3-1DFD-5C9B9C6F504B}"/>
              </a:ext>
            </a:extLst>
          </p:cNvPr>
          <p:cNvCxnSpPr>
            <a:cxnSpLocks/>
            <a:stCxn id="9" idx="2"/>
            <a:endCxn id="128" idx="0"/>
          </p:cNvCxnSpPr>
          <p:nvPr/>
        </p:nvCxnSpPr>
        <p:spPr>
          <a:xfrm>
            <a:off x="2613192" y="4174709"/>
            <a:ext cx="1899714" cy="694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">
            <a:extLst>
              <a:ext uri="{FF2B5EF4-FFF2-40B4-BE49-F238E27FC236}">
                <a16:creationId xmlns:a16="http://schemas.microsoft.com/office/drawing/2014/main" id="{658F1862-93AE-E8B2-BF80-7DD99FBF8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5" y="624840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17F61C0F-A5FA-3B78-D108-6F2950B80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376" y="624840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</a:p>
        </p:txBody>
      </p:sp>
      <p:pic>
        <p:nvPicPr>
          <p:cNvPr id="10" name="グラフィックス 9" descr="ユーザー">
            <a:extLst>
              <a:ext uri="{FF2B5EF4-FFF2-40B4-BE49-F238E27FC236}">
                <a16:creationId xmlns:a16="http://schemas.microsoft.com/office/drawing/2014/main" id="{01D0C2A1-0EAF-8321-0882-40EA45664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85" y="5414029"/>
            <a:ext cx="519956" cy="51995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3DCC070-7696-FDF3-08E8-3E72D5F8C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76" y="5898130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pic>
        <p:nvPicPr>
          <p:cNvPr id="12" name="グラフィックス 11" descr="ユーザー">
            <a:extLst>
              <a:ext uri="{FF2B5EF4-FFF2-40B4-BE49-F238E27FC236}">
                <a16:creationId xmlns:a16="http://schemas.microsoft.com/office/drawing/2014/main" id="{675A5BDD-2BA1-D104-3FBD-F2B4F9B0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60" y="5414029"/>
            <a:ext cx="519956" cy="519956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923C1CB-68EA-C8C7-1155-1CE33F7792E6}"/>
              </a:ext>
            </a:extLst>
          </p:cNvPr>
          <p:cNvSpPr/>
          <p:nvPr/>
        </p:nvSpPr>
        <p:spPr>
          <a:xfrm>
            <a:off x="359783" y="4854397"/>
            <a:ext cx="143987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グラフィックス 48" descr="インターネット">
            <a:extLst>
              <a:ext uri="{FF2B5EF4-FFF2-40B4-BE49-F238E27FC236}">
                <a16:creationId xmlns:a16="http://schemas.microsoft.com/office/drawing/2014/main" id="{4863F91F-04EC-BE3F-94D5-DA47A93FD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466" y="4975642"/>
            <a:ext cx="516155" cy="516155"/>
          </a:xfrm>
          <a:prstGeom prst="rect">
            <a:avLst/>
          </a:prstGeom>
        </p:spPr>
      </p:pic>
      <p:pic>
        <p:nvPicPr>
          <p:cNvPr id="73" name="グラフィックス 72" descr="インターネット">
            <a:extLst>
              <a:ext uri="{FF2B5EF4-FFF2-40B4-BE49-F238E27FC236}">
                <a16:creationId xmlns:a16="http://schemas.microsoft.com/office/drawing/2014/main" id="{24683C6A-AF79-9B04-4822-14C0DCFBF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958" y="4975642"/>
            <a:ext cx="516155" cy="516155"/>
          </a:xfrm>
          <a:prstGeom prst="rect">
            <a:avLst/>
          </a:prstGeom>
        </p:spPr>
      </p:pic>
      <p:sp>
        <p:nvSpPr>
          <p:cNvPr id="113" name="Rectangle 2">
            <a:extLst>
              <a:ext uri="{FF2B5EF4-FFF2-40B4-BE49-F238E27FC236}">
                <a16:creationId xmlns:a16="http://schemas.microsoft.com/office/drawing/2014/main" id="{09D60977-7B49-BA2E-4E56-A32DF2F68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670" y="5898130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</a:p>
        </p:txBody>
      </p:sp>
      <p:pic>
        <p:nvPicPr>
          <p:cNvPr id="124" name="グラフィックス 123" descr="ユーザー">
            <a:extLst>
              <a:ext uri="{FF2B5EF4-FFF2-40B4-BE49-F238E27FC236}">
                <a16:creationId xmlns:a16="http://schemas.microsoft.com/office/drawing/2014/main" id="{FF0307CF-38A6-46E3-C20C-45071E251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8293" y="5409531"/>
            <a:ext cx="519956" cy="519956"/>
          </a:xfrm>
          <a:prstGeom prst="rect">
            <a:avLst/>
          </a:prstGeom>
        </p:spPr>
      </p:pic>
      <p:sp>
        <p:nvSpPr>
          <p:cNvPr id="125" name="Rectangle 2">
            <a:extLst>
              <a:ext uri="{FF2B5EF4-FFF2-40B4-BE49-F238E27FC236}">
                <a16:creationId xmlns:a16="http://schemas.microsoft.com/office/drawing/2014/main" id="{943E3114-264D-D85F-6411-94546BBB9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384" y="589363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pic>
        <p:nvPicPr>
          <p:cNvPr id="126" name="グラフィックス 125" descr="ユーザー">
            <a:extLst>
              <a:ext uri="{FF2B5EF4-FFF2-40B4-BE49-F238E27FC236}">
                <a16:creationId xmlns:a16="http://schemas.microsoft.com/office/drawing/2014/main" id="{BF39F805-2086-A441-949A-B934C1AA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2168" y="5409531"/>
            <a:ext cx="519956" cy="519956"/>
          </a:xfrm>
          <a:prstGeom prst="rect">
            <a:avLst/>
          </a:prstGeom>
        </p:spPr>
      </p:pic>
      <p:pic>
        <p:nvPicPr>
          <p:cNvPr id="127" name="グラフィックス 126" descr="ユーザー">
            <a:extLst>
              <a:ext uri="{FF2B5EF4-FFF2-40B4-BE49-F238E27FC236}">
                <a16:creationId xmlns:a16="http://schemas.microsoft.com/office/drawing/2014/main" id="{87D698AD-F630-11DF-1949-F619E4404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962" y="5409531"/>
            <a:ext cx="519956" cy="519956"/>
          </a:xfrm>
          <a:prstGeom prst="rect">
            <a:avLst/>
          </a:prstGeom>
        </p:spPr>
      </p:pic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E13DD9A9-39CE-1499-132F-08E4BEB9780B}"/>
              </a:ext>
            </a:extLst>
          </p:cNvPr>
          <p:cNvSpPr/>
          <p:nvPr/>
        </p:nvSpPr>
        <p:spPr>
          <a:xfrm>
            <a:off x="3420455" y="4868949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9" name="グラフィックス 128" descr="インターネット">
            <a:extLst>
              <a:ext uri="{FF2B5EF4-FFF2-40B4-BE49-F238E27FC236}">
                <a16:creationId xmlns:a16="http://schemas.microsoft.com/office/drawing/2014/main" id="{885D5CE4-F64B-19AE-D316-E5AAEE5EA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3874" y="4971144"/>
            <a:ext cx="516155" cy="516155"/>
          </a:xfrm>
          <a:prstGeom prst="rect">
            <a:avLst/>
          </a:prstGeom>
        </p:spPr>
      </p:pic>
      <p:pic>
        <p:nvPicPr>
          <p:cNvPr id="130" name="グラフィックス 129" descr="インターネット">
            <a:extLst>
              <a:ext uri="{FF2B5EF4-FFF2-40B4-BE49-F238E27FC236}">
                <a16:creationId xmlns:a16="http://schemas.microsoft.com/office/drawing/2014/main" id="{9E17C5B5-0C68-6F10-D6CE-B608D5A09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6366" y="4971144"/>
            <a:ext cx="516155" cy="516155"/>
          </a:xfrm>
          <a:prstGeom prst="rect">
            <a:avLst/>
          </a:prstGeom>
        </p:spPr>
      </p:pic>
      <p:pic>
        <p:nvPicPr>
          <p:cNvPr id="131" name="グラフィックス 130" descr="インターネット">
            <a:extLst>
              <a:ext uri="{FF2B5EF4-FFF2-40B4-BE49-F238E27FC236}">
                <a16:creationId xmlns:a16="http://schemas.microsoft.com/office/drawing/2014/main" id="{A2625C6C-DDA3-FE4F-42C1-87FCE76E3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977" y="4971144"/>
            <a:ext cx="516155" cy="516155"/>
          </a:xfrm>
          <a:prstGeom prst="rect">
            <a:avLst/>
          </a:prstGeom>
        </p:spPr>
      </p:pic>
      <p:sp>
        <p:nvSpPr>
          <p:cNvPr id="132" name="Rectangle 2">
            <a:extLst>
              <a:ext uri="{FF2B5EF4-FFF2-40B4-BE49-F238E27FC236}">
                <a16:creationId xmlns:a16="http://schemas.microsoft.com/office/drawing/2014/main" id="{7BC499DE-575E-BADE-3225-C85789E5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61" y="589363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172AFED5-4CC7-1C50-99B5-C29C437FB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78" y="5893632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64648D0-9393-D599-0EAA-B8A4B93FD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7"/>
            <a:ext cx="54186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3.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イベント開始前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グループ割振り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3CAFB77-C428-08A2-0009-C4E572D2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主催者はグループ割振り画面で、参加者のグループを割り振る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D220485-0B66-58C5-48E6-CA3EAAF8C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168" y="6248400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pic>
        <p:nvPicPr>
          <p:cNvPr id="20" name="グラフィックス 19" descr="ユーザー">
            <a:extLst>
              <a:ext uri="{FF2B5EF4-FFF2-40B4-BE49-F238E27FC236}">
                <a16:creationId xmlns:a16="http://schemas.microsoft.com/office/drawing/2014/main" id="{FCA400CC-562B-749D-1816-79DD570D2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5358" y="5414029"/>
            <a:ext cx="519956" cy="519956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D3EC851F-1732-9AAD-E857-4E187379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49" y="5898130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</a:p>
        </p:txBody>
      </p:sp>
      <p:pic>
        <p:nvPicPr>
          <p:cNvPr id="22" name="グラフィックス 21" descr="ユーザー">
            <a:extLst>
              <a:ext uri="{FF2B5EF4-FFF2-40B4-BE49-F238E27FC236}">
                <a16:creationId xmlns:a16="http://schemas.microsoft.com/office/drawing/2014/main" id="{A9E70786-0589-CFE9-ACBF-1AAB002B7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9233" y="5414029"/>
            <a:ext cx="519956" cy="51995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7941C8A-802A-4D0E-4B0A-24E2CEB1D772}"/>
              </a:ext>
            </a:extLst>
          </p:cNvPr>
          <p:cNvSpPr/>
          <p:nvPr/>
        </p:nvSpPr>
        <p:spPr>
          <a:xfrm>
            <a:off x="1893256" y="4854397"/>
            <a:ext cx="143987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グラフィックス 23" descr="インターネット">
            <a:extLst>
              <a:ext uri="{FF2B5EF4-FFF2-40B4-BE49-F238E27FC236}">
                <a16:creationId xmlns:a16="http://schemas.microsoft.com/office/drawing/2014/main" id="{DB960620-A05C-E94D-3227-E79BB0728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0939" y="4975642"/>
            <a:ext cx="516155" cy="516155"/>
          </a:xfrm>
          <a:prstGeom prst="rect">
            <a:avLst/>
          </a:prstGeom>
        </p:spPr>
      </p:pic>
      <p:pic>
        <p:nvPicPr>
          <p:cNvPr id="25" name="グラフィックス 24" descr="インターネット">
            <a:extLst>
              <a:ext uri="{FF2B5EF4-FFF2-40B4-BE49-F238E27FC236}">
                <a16:creationId xmlns:a16="http://schemas.microsoft.com/office/drawing/2014/main" id="{ECEBA050-957A-647B-73F1-7D8AA6B30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3431" y="4975642"/>
            <a:ext cx="516155" cy="516155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:a16="http://schemas.microsoft.com/office/drawing/2014/main" id="{A405E410-BE97-5847-63CB-608443772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143" y="5898130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C446B8E-EF6B-3353-88D6-0A10EF425194}"/>
              </a:ext>
            </a:extLst>
          </p:cNvPr>
          <p:cNvSpPr/>
          <p:nvPr/>
        </p:nvSpPr>
        <p:spPr>
          <a:xfrm>
            <a:off x="6096000" y="2236677"/>
            <a:ext cx="2501153" cy="416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4640CD7B-F837-9689-846F-48AF37609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991" y="6464890"/>
            <a:ext cx="14811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グループ割振り画面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C8016C7D-428C-8260-31D3-C4F53A7B0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050" y="4080175"/>
            <a:ext cx="20850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グループを割振る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E20FDB67-ECE0-CA8C-FE79-4B3B385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415372"/>
            <a:ext cx="22930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現在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人入力完了しています。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（１００人中）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62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6FC3-B502-51E1-1ADF-1B69A161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DFAD3-50EF-9098-1B56-0A10E421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533294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8F66A6-FB25-2803-2785-810CC6476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01923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共通度表示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D479DF-5EBE-BB2B-DDF6-B53018C3C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75012"/>
            <a:ext cx="81142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共通度一覧画面によりグループメンバー同士の共通度を確認する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3C3573A-3737-DEB1-4D3D-0B7CB8AB7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909" y="5285854"/>
            <a:ext cx="920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</a:p>
        </p:txBody>
      </p:sp>
      <p:pic>
        <p:nvPicPr>
          <p:cNvPr id="28" name="グラフィックス 27" descr="ユーザー">
            <a:extLst>
              <a:ext uri="{FF2B5EF4-FFF2-40B4-BE49-F238E27FC236}">
                <a16:creationId xmlns:a16="http://schemas.microsoft.com/office/drawing/2014/main" id="{4141091D-A007-B788-D1B2-2C9BCBC26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465" y="4423408"/>
            <a:ext cx="519956" cy="519956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1AC2E30F-783A-5294-FE2F-76A27C710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556" y="4907509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</a:p>
        </p:txBody>
      </p:sp>
      <p:pic>
        <p:nvPicPr>
          <p:cNvPr id="30" name="グラフィックス 29" descr="ユーザー">
            <a:extLst>
              <a:ext uri="{FF2B5EF4-FFF2-40B4-BE49-F238E27FC236}">
                <a16:creationId xmlns:a16="http://schemas.microsoft.com/office/drawing/2014/main" id="{BAC2B9B2-9DE7-34F8-0821-594D8E461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5340" y="4423408"/>
            <a:ext cx="519956" cy="519956"/>
          </a:xfrm>
          <a:prstGeom prst="rect">
            <a:avLst/>
          </a:prstGeom>
        </p:spPr>
      </p:pic>
      <p:pic>
        <p:nvPicPr>
          <p:cNvPr id="32" name="グラフィックス 31" descr="ユーザー">
            <a:extLst>
              <a:ext uri="{FF2B5EF4-FFF2-40B4-BE49-F238E27FC236}">
                <a16:creationId xmlns:a16="http://schemas.microsoft.com/office/drawing/2014/main" id="{BEE8349F-8E85-6654-C70A-9E324FD5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3134" y="4423408"/>
            <a:ext cx="519956" cy="519956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5B44715-9670-6DEE-97D5-3FC7132620F6}"/>
              </a:ext>
            </a:extLst>
          </p:cNvPr>
          <p:cNvSpPr/>
          <p:nvPr/>
        </p:nvSpPr>
        <p:spPr>
          <a:xfrm>
            <a:off x="1143627" y="3863776"/>
            <a:ext cx="2184902" cy="139850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グラフィックス 36" descr="インターネット">
            <a:extLst>
              <a:ext uri="{FF2B5EF4-FFF2-40B4-BE49-F238E27FC236}">
                <a16:creationId xmlns:a16="http://schemas.microsoft.com/office/drawing/2014/main" id="{4AA6423E-6F9E-495A-3F24-4EC04DD8D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7046" y="3985021"/>
            <a:ext cx="516155" cy="516155"/>
          </a:xfrm>
          <a:prstGeom prst="rect">
            <a:avLst/>
          </a:prstGeom>
        </p:spPr>
      </p:pic>
      <p:pic>
        <p:nvPicPr>
          <p:cNvPr id="39" name="グラフィックス 38" descr="インターネット">
            <a:extLst>
              <a:ext uri="{FF2B5EF4-FFF2-40B4-BE49-F238E27FC236}">
                <a16:creationId xmlns:a16="http://schemas.microsoft.com/office/drawing/2014/main" id="{9DF64CD0-DFDA-733B-76F7-CBCB0C50B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9538" y="3985021"/>
            <a:ext cx="516155" cy="516155"/>
          </a:xfrm>
          <a:prstGeom prst="rect">
            <a:avLst/>
          </a:prstGeom>
        </p:spPr>
      </p:pic>
      <p:pic>
        <p:nvPicPr>
          <p:cNvPr id="42" name="グラフィックス 41" descr="インターネット">
            <a:extLst>
              <a:ext uri="{FF2B5EF4-FFF2-40B4-BE49-F238E27FC236}">
                <a16:creationId xmlns:a16="http://schemas.microsoft.com/office/drawing/2014/main" id="{5B449C65-EDDA-006A-DBD7-7793A2B16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0149" y="3985021"/>
            <a:ext cx="516155" cy="516155"/>
          </a:xfrm>
          <a:prstGeom prst="rect">
            <a:avLst/>
          </a:prstGeom>
        </p:spPr>
      </p:pic>
      <p:sp>
        <p:nvSpPr>
          <p:cNvPr id="43" name="Rectangle 2">
            <a:extLst>
              <a:ext uri="{FF2B5EF4-FFF2-40B4-BE49-F238E27FC236}">
                <a16:creationId xmlns:a16="http://schemas.microsoft.com/office/drawing/2014/main" id="{EFA43C2A-06DF-2565-052B-9AF05103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533" y="4907509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D4C0C47A-0828-9217-E8EE-6F34D6D0C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50" y="4907509"/>
            <a:ext cx="76598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</a:p>
        </p:txBody>
      </p:sp>
      <p:sp>
        <p:nvSpPr>
          <p:cNvPr id="46" name="矢印: 下カーブ 45">
            <a:extLst>
              <a:ext uri="{FF2B5EF4-FFF2-40B4-BE49-F238E27FC236}">
                <a16:creationId xmlns:a16="http://schemas.microsoft.com/office/drawing/2014/main" id="{67AD79A5-C323-C658-EF68-4406B094C26E}"/>
              </a:ext>
            </a:extLst>
          </p:cNvPr>
          <p:cNvSpPr/>
          <p:nvPr/>
        </p:nvSpPr>
        <p:spPr>
          <a:xfrm rot="20555155">
            <a:off x="1037380" y="2361050"/>
            <a:ext cx="4035139" cy="1130861"/>
          </a:xfrm>
          <a:prstGeom prst="curved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AAB3E5-FB77-37B3-E49A-2D81A1D32438}"/>
              </a:ext>
            </a:extLst>
          </p:cNvPr>
          <p:cNvSpPr/>
          <p:nvPr/>
        </p:nvSpPr>
        <p:spPr>
          <a:xfrm>
            <a:off x="5176301" y="2262748"/>
            <a:ext cx="2501153" cy="4168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305B5F80-863E-64DE-4E6E-BE12C0A6A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949" y="6489663"/>
            <a:ext cx="19945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共通度一覧画面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FA7972C0-3DBD-D528-BFB1-D6B82C91C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659" y="2772224"/>
            <a:ext cx="25984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67E6DEA1-6D6B-E471-3F25-E34FF01C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942" y="3049223"/>
            <a:ext cx="10641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詳細はこちら</a:t>
            </a:r>
            <a:endParaRPr lang="en-US" altLang="ja-JP" sz="1200" b="1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C8BB63AB-7AAE-7765-BA9B-E5FB5735B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659" y="3432290"/>
            <a:ext cx="25984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</a:t>
            </a:r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％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F22B912D-C974-DC56-E7BE-0F4AD5AC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943" y="3709289"/>
            <a:ext cx="106412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詳細はこちら</a:t>
            </a:r>
            <a:endParaRPr lang="en-US" altLang="ja-JP" sz="1200" b="1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7915244F-3AA5-1756-5003-4C38D71FF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20" y="4933939"/>
            <a:ext cx="2182260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メンバーの回答結果を表示する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1BE44FC2-BC5D-6E28-8897-1A6BCFE51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942" y="5304915"/>
            <a:ext cx="81115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終了する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2537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C5C9-D23E-9855-E08E-0F7D7250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E9237-3E6D-17BF-7F4A-A62FECF8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5180542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2F398-C42C-6A18-CCB7-5D09C363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79671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共通度詳細表示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ED67C7-5870-D4A8-B97B-62D523879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08218"/>
            <a:ext cx="91642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共通度一覧画面の「詳細はこちら」を押下して共通度詳細画面を確認する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24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共通度に応じて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共通度詳細画面の内容は変わる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206BEC-BC73-9E2A-CD7E-E3E6F82887B9}"/>
              </a:ext>
            </a:extLst>
          </p:cNvPr>
          <p:cNvSpPr/>
          <p:nvPr/>
        </p:nvSpPr>
        <p:spPr>
          <a:xfrm>
            <a:off x="677332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3B31D7B-CA1A-4A67-97F2-219053A9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47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4245CCED-8CF3-B873-DF47-D38A32BB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12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さんとの共通度は低いです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656A4-383F-8B7E-83D3-AFEFB6491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46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E55018-CF4A-EA41-7BEE-3AD650DADEBB}"/>
              </a:ext>
            </a:extLst>
          </p:cNvPr>
          <p:cNvSpPr/>
          <p:nvPr/>
        </p:nvSpPr>
        <p:spPr>
          <a:xfrm>
            <a:off x="3714334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F93EA7-C18F-CA96-49E9-A89101362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949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9AA978E-69FA-A3D9-7B4D-659E86E0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514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さんとの共通度は中です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3C4DCB8-BF22-2D58-CC8C-C9A07533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048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BCDCBAD-EFE7-C29B-6D30-03CBD94BE25D}"/>
              </a:ext>
            </a:extLst>
          </p:cNvPr>
          <p:cNvSpPr/>
          <p:nvPr/>
        </p:nvSpPr>
        <p:spPr>
          <a:xfrm>
            <a:off x="6751336" y="2829415"/>
            <a:ext cx="2598404" cy="3141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572FF42-3704-F2CC-0168-52B946D7D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951" y="5984602"/>
            <a:ext cx="224117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共通度詳細画面（共通度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高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595331-9588-418B-1BF7-8B409AF4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516" y="2916627"/>
            <a:ext cx="244404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参加者</a:t>
            </a:r>
            <a: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さんとの共通度は高いです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D7C99DA-2D1C-A058-F61E-F6F0EFE1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8050" y="3429000"/>
            <a:ext cx="16760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ーーーーーーーー</a:t>
            </a: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1C40797-D59B-4455-BC8F-02D02D8B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17" y="5562503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55EF565-0B21-AC67-88A7-8AAB2DEF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830" y="5562503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293B4B4-2D9D-2E0C-3059-25958D30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624" y="5562502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2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808F-40F5-4B5B-3285-4D5A3A2C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45244-92D0-A76A-259F-E725950A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342467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共通点発見アプリ使用手順</a:t>
            </a:r>
            <a:endParaRPr kumimoji="0"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D12149-CA94-5BEE-344D-9A8FE5674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7"/>
            <a:ext cx="579671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フェーズ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イベント開始後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回答内容確認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658331-7FBE-8E2E-5527-A6CED776C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2" y="1708218"/>
            <a:ext cx="897571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回答確認画面にて共通度画面の「メンバーの回答結果を表示する」を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押下してメンバーの回答内容を確認する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4B653A7-A3C4-BCA3-FE89-AC3539C7F5C7}"/>
              </a:ext>
            </a:extLst>
          </p:cNvPr>
          <p:cNvSpPr/>
          <p:nvPr/>
        </p:nvSpPr>
        <p:spPr>
          <a:xfrm>
            <a:off x="3023388" y="2539215"/>
            <a:ext cx="4965470" cy="3905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F6B4EDE-8994-9228-DF9D-13C08BA7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4919" y="6581001"/>
            <a:ext cx="11393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回答確認画面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57A85B6-7D4D-12F5-2791-2790DC66A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603" y="6097234"/>
            <a:ext cx="5448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3E25762C-E5D7-A319-DD50-01C5E1FDA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873453"/>
              </p:ext>
            </p:extLst>
          </p:nvPr>
        </p:nvGraphicFramePr>
        <p:xfrm>
          <a:off x="3102839" y="4056562"/>
          <a:ext cx="4806569" cy="11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18">
                  <a:extLst>
                    <a:ext uri="{9D8B030D-6E8A-4147-A177-3AD203B41FA5}">
                      <a16:colId xmlns:a16="http://schemas.microsoft.com/office/drawing/2014/main" val="1156698511"/>
                    </a:ext>
                  </a:extLst>
                </a:gridCol>
                <a:gridCol w="1538893">
                  <a:extLst>
                    <a:ext uri="{9D8B030D-6E8A-4147-A177-3AD203B41FA5}">
                      <a16:colId xmlns:a16="http://schemas.microsoft.com/office/drawing/2014/main" val="1790417700"/>
                    </a:ext>
                  </a:extLst>
                </a:gridCol>
                <a:gridCol w="912821">
                  <a:extLst>
                    <a:ext uri="{9D8B030D-6E8A-4147-A177-3AD203B41FA5}">
                      <a16:colId xmlns:a16="http://schemas.microsoft.com/office/drawing/2014/main" val="3268651200"/>
                    </a:ext>
                  </a:extLst>
                </a:gridCol>
                <a:gridCol w="967818">
                  <a:extLst>
                    <a:ext uri="{9D8B030D-6E8A-4147-A177-3AD203B41FA5}">
                      <a16:colId xmlns:a16="http://schemas.microsoft.com/office/drawing/2014/main" val="3624005325"/>
                    </a:ext>
                  </a:extLst>
                </a:gridCol>
                <a:gridCol w="967819">
                  <a:extLst>
                    <a:ext uri="{9D8B030D-6E8A-4147-A177-3AD203B41FA5}">
                      <a16:colId xmlns:a16="http://schemas.microsoft.com/office/drawing/2014/main" val="1456191553"/>
                    </a:ext>
                  </a:extLst>
                </a:gridCol>
              </a:tblGrid>
              <a:tr h="278116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#</a:t>
                      </a:r>
                      <a:endParaRPr kumimoji="1" lang="ja-JP" alt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質問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参加者</a:t>
                      </a:r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参加者</a:t>
                      </a:r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参加者</a:t>
                      </a:r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回答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644322"/>
                  </a:ext>
                </a:extLst>
              </a:tr>
              <a:tr h="278116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今日は運動しましたか</a:t>
                      </a:r>
                      <a:endParaRPr kumimoji="1" lang="ja-JP" alt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はい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はい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はい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127030"/>
                  </a:ext>
                </a:extLst>
              </a:tr>
              <a:tr h="278116"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endParaRPr kumimoji="1" lang="en-US" altLang="ja-JP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443424"/>
                  </a:ext>
                </a:extLst>
              </a:tr>
              <a:tr h="278116">
                <a:tc>
                  <a:txBody>
                    <a:bodyPr/>
                    <a:lstStyle/>
                    <a:p>
                      <a:r>
                        <a:rPr kumimoji="1" lang="en-US" altLang="ja-JP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今日は外に出ましたか？</a:t>
                      </a:r>
                      <a:endParaRPr kumimoji="1" lang="ja-JP" altLang="en-US" sz="9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いいえ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はい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いいえ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6737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B9DDED1-9F36-C32D-C9E8-B74C97F0A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839" y="3370212"/>
            <a:ext cx="187548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回答結果は以下です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324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CB03-AEB0-0F40-0EEC-53AF751D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7ED2B-4B55-D9C4-F8B4-93B1B06D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2452366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役割分担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E88E86-C230-3226-59DE-FF49AC04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12174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役割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A95968-1639-B616-E04D-8C55A2BDF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2023303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8B888CF-BD0A-FABA-BE62-FA779E750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897571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・バックエンド　　　　　　　　　：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・フロント（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CSS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） ：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・フロント（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JS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）             ：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DB                          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916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DEF1-8279-D38C-D140-9E8CE9D8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66B557-E39E-627F-4AC2-B0B8452F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905611" cy="582706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6.</a:t>
            </a:r>
            <a:r>
              <a:rPr kumimoji="0" lang="ja-JP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8DFBCF-CEA8-7E84-917E-06B97399F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12174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改善点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900C45-E3DB-8898-09C2-35B7C16A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838637"/>
            <a:ext cx="94438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例えば、、、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git</a:t>
            </a: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によるソース管理</a:t>
            </a:r>
          </a:p>
        </p:txBody>
      </p:sp>
    </p:spTree>
    <p:extLst>
      <p:ext uri="{BB962C8B-B14F-4D97-AF65-F5344CB8AC3E}">
        <p14:creationId xmlns:p14="http://schemas.microsoft.com/office/powerpoint/2010/main" val="29786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9FAA-0E0F-E042-FAF7-7E462255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84F4-A005-24A3-495D-DFB5B712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5F1BB5-C810-1AEF-774C-71D4EC30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5" y="1192306"/>
            <a:ext cx="24240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学んだこと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9C04B5-7BEA-679C-C9B1-A2769B50C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/>
              <a:t>ーーーー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7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6492-40BE-4AF3-F5EA-0EA669F6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C3C2E-1A6C-817C-D637-E0DD9CDA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760196" cy="58270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8.</a:t>
            </a:r>
            <a:r>
              <a:rPr kumimoji="0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付録</a:t>
            </a:r>
            <a:endParaRPr kumimoji="0" lang="ja-JP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98FE3D-3689-F500-3AB3-58775C0CB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1192306"/>
            <a:ext cx="33041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ドキュメント・ソースコード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AA6A34-C39D-F7C3-97A2-ABFF593F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3" y="1775012"/>
            <a:ext cx="94438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https://github.com/ryuseim1115/apprentice-term6-team-dev</a:t>
            </a:r>
            <a:endParaRPr kumimoji="0" lang="ja-JP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045214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510</TotalTime>
  <Words>768</Words>
  <Application>Microsoft Office PowerPoint</Application>
  <PresentationFormat>ワイド画面</PresentationFormat>
  <Paragraphs>160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Meiryo UI</vt:lpstr>
      <vt:lpstr>游ゴシック</vt:lpstr>
      <vt:lpstr>Arial</vt:lpstr>
      <vt:lpstr>Trebuchet MS</vt:lpstr>
      <vt:lpstr>Wingdings 3</vt:lpstr>
      <vt:lpstr>ファセット</vt:lpstr>
      <vt:lpstr>共通点発見アプリについて</vt:lpstr>
      <vt:lpstr>目次</vt:lpstr>
      <vt:lpstr>1.背景・課題</vt:lpstr>
      <vt:lpstr>2.アプリ開発目的</vt:lpstr>
      <vt:lpstr>3.共通点発見アプリの概要</vt:lpstr>
      <vt:lpstr>4.共通点発見アプリ使用手順</vt:lpstr>
      <vt:lpstr>4.共通点発見アプリ使用手順</vt:lpstr>
      <vt:lpstr>4.共通点発見アプリ使用手順</vt:lpstr>
      <vt:lpstr>4.共通点発見アプリ使用手順</vt:lpstr>
      <vt:lpstr>4.共通点発見アプリ使用手順</vt:lpstr>
      <vt:lpstr>4.共通点発見アプリ使用手順</vt:lpstr>
      <vt:lpstr>5.役割分担</vt:lpstr>
      <vt:lpstr>6.改善点</vt:lpstr>
      <vt:lpstr>7.まとめ</vt:lpstr>
      <vt:lpstr>8.付録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竜盛 前渕</dc:creator>
  <cp:lastModifiedBy>竜盛 前渕</cp:lastModifiedBy>
  <cp:revision>158</cp:revision>
  <dcterms:created xsi:type="dcterms:W3CDTF">2026-01-31T13:59:45Z</dcterms:created>
  <dcterms:modified xsi:type="dcterms:W3CDTF">2026-02-14T04:57:00Z</dcterms:modified>
</cp:coreProperties>
</file>